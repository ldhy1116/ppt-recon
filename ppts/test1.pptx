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
  </p:handoutMasterIdLst>
  <p:sldIdLst>
    <p:sldId id="3616" r:id="rId3"/>
    <p:sldId id="992" r:id="rId5"/>
    <p:sldId id="994" r:id="rId6"/>
    <p:sldId id="3617" r:id="rId7"/>
    <p:sldId id="3622" r:id="rId8"/>
    <p:sldId id="3623" r:id="rId9"/>
    <p:sldId id="3624" r:id="rId10"/>
    <p:sldId id="3625" r:id="rId11"/>
    <p:sldId id="3621" r:id="rId12"/>
    <p:sldId id="3626" r:id="rId13"/>
    <p:sldId id="3620" r:id="rId14"/>
    <p:sldId id="3619" r:id="rId15"/>
    <p:sldId id="3627" r:id="rId16"/>
    <p:sldId id="3628" r:id="rId17"/>
    <p:sldId id="3629" r:id="rId18"/>
    <p:sldId id="3618" r:id="rId19"/>
    <p:sldId id="3630" r:id="rId20"/>
    <p:sldId id="918" r:id="rId21"/>
  </p:sldIdLst>
  <p:sldSz cx="12192000" cy="6858000"/>
  <p:notesSz cx="6760845" cy="99421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userDrawn="1">
          <p15:clr>
            <a:srgbClr val="A4A3A4"/>
          </p15:clr>
        </p15:guide>
        <p15:guide id="2" pos="3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68CB"/>
    <a:srgbClr val="EE8E00"/>
    <a:srgbClr val="3467CC"/>
    <a:srgbClr val="3185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4" autoAdjust="0"/>
    <p:restoredTop sz="94686" autoAdjust="0"/>
  </p:normalViewPr>
  <p:slideViewPr>
    <p:cSldViewPr showGuides="1">
      <p:cViewPr varScale="1">
        <p:scale>
          <a:sx n="108" d="100"/>
          <a:sy n="108" d="100"/>
        </p:scale>
        <p:origin x="678" y="108"/>
      </p:cViewPr>
      <p:guideLst>
        <p:guide orient="horz" pos="2151"/>
        <p:guide pos="3849"/>
      </p:guideLst>
    </p:cSldViewPr>
  </p:slideViewPr>
  <p:outlineViewPr>
    <p:cViewPr>
      <p:scale>
        <a:sx n="25" d="100"/>
        <a:sy n="25" d="100"/>
      </p:scale>
      <p:origin x="0" y="0"/>
    </p:cViewPr>
  </p:outlineViewPr>
  <p:notesTextViewPr>
    <p:cViewPr>
      <p:scale>
        <a:sx n="1" d="1"/>
        <a:sy n="1" d="1"/>
      </p:scale>
      <p:origin x="0" y="0"/>
    </p:cViewPr>
  </p:notesTextViewPr>
  <p:sorterViewPr>
    <p:cViewPr>
      <p:scale>
        <a:sx n="125" d="100"/>
        <a:sy n="125" d="100"/>
      </p:scale>
      <p:origin x="0" y="0"/>
    </p:cViewPr>
  </p:sorterViewPr>
  <p:notesViewPr>
    <p:cSldViewPr>
      <p:cViewPr varScale="1">
        <p:scale>
          <a:sx n="63" d="100"/>
          <a:sy n="63" d="100"/>
        </p:scale>
        <p:origin x="-2664" y="-77"/>
      </p:cViewPr>
      <p:guideLst>
        <p:guide orient="horz" pos="3118"/>
        <p:guide pos="213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33EFA8C4-4B9D-4753-804A-E36F6E3E343F}" type="datetimeFigureOut">
              <a:rPr lang="zh-CN" altLang="en-US" smtClean="0"/>
            </a:fld>
            <a:endParaRPr lang="zh-CN" altLang="en-US"/>
          </a:p>
        </p:txBody>
      </p:sp>
      <p:sp>
        <p:nvSpPr>
          <p:cNvPr id="4" name="页脚占位符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024808FE-5666-41D7-A368-1D58F1F7E95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DE00CDD7-B233-475A-BF1E-F34C9887CE5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263" y="746125"/>
            <a:ext cx="6624637" cy="37274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6117" y="4722694"/>
            <a:ext cx="5408930" cy="4474131"/>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4C465B96-D12E-42F7-A70A-A7A9994D4D2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C465B96-D12E-42F7-A70A-A7A9994D4D2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9" name="矩形 8"/>
          <p:cNvSpPr/>
          <p:nvPr userDrawn="1"/>
        </p:nvSpPr>
        <p:spPr>
          <a:xfrm>
            <a:off x="0" y="0"/>
            <a:ext cx="12192000" cy="2492896"/>
          </a:xfrm>
          <a:prstGeom prst="rect">
            <a:avLst/>
          </a:prstGeom>
          <a:solidFill>
            <a:srgbClr val="3467CC"/>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5360" y="116633"/>
            <a:ext cx="10753195" cy="630921"/>
          </a:xfrm>
          <a:prstGeom prst="rect">
            <a:avLst/>
          </a:prstGeom>
          <a:effectLst>
            <a:reflection blurRad="6350" stA="25000" endPos="81000" dir="5400000" sy="-100000" algn="bl" rotWithShape="0"/>
          </a:effectLst>
        </p:spPr>
        <p:txBody>
          <a:bodyPr/>
          <a:lstStyle>
            <a:lvl1pPr algn="l">
              <a:defRPr lang="zh-CN" altLang="en-US" sz="3200" kern="1200" dirty="0">
                <a:solidFill>
                  <a:schemeClr val="bg1"/>
                </a:solidFill>
                <a:latin typeface="汉仪菱心体简" panose="02010400000101010101" pitchFamily="49" charset="-122"/>
                <a:ea typeface="汉仪菱心体简" panose="02010400000101010101" pitchFamily="49" charset="-122"/>
                <a:cs typeface="+mj-cs"/>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23392" y="1052736"/>
            <a:ext cx="10972800" cy="5040560"/>
          </a:xfrm>
          <a:prstGeom prst="rect">
            <a:avLst/>
          </a:prstGeom>
        </p:spPr>
        <p:txBody>
          <a:bodyPr/>
          <a:lstStyle>
            <a:lvl1pPr>
              <a:lnSpc>
                <a:spcPct val="130000"/>
              </a:lnSpc>
              <a:spcBef>
                <a:spcPts val="0"/>
              </a:spcBef>
              <a:defRPr sz="2400">
                <a:latin typeface="方正正中黑简体" panose="02000500000000000000" pitchFamily="2" charset="-122"/>
                <a:ea typeface="方正正中黑简体" panose="02000500000000000000" pitchFamily="2" charset="-122"/>
              </a:defRPr>
            </a:lvl1pPr>
            <a:lvl2pPr>
              <a:lnSpc>
                <a:spcPct val="130000"/>
              </a:lnSpc>
              <a:spcBef>
                <a:spcPts val="0"/>
              </a:spcBef>
              <a:defRPr lang="zh-CN" altLang="en-US" sz="2200" kern="1200" dirty="0" smtClean="0">
                <a:solidFill>
                  <a:schemeClr val="tx1"/>
                </a:solidFill>
                <a:latin typeface="方正正中黑简体" panose="02000500000000000000" pitchFamily="2" charset="-122"/>
                <a:ea typeface="方正正中黑简体" panose="02000500000000000000" pitchFamily="2" charset="-122"/>
                <a:cs typeface="+mn-cs"/>
              </a:defRPr>
            </a:lvl2pPr>
            <a:lvl3pPr>
              <a:lnSpc>
                <a:spcPct val="130000"/>
              </a:lnSpc>
              <a:spcBef>
                <a:spcPts val="0"/>
              </a:spcBef>
              <a:defRPr lang="zh-CN" altLang="en-US" sz="2100" kern="1200" dirty="0" smtClean="0">
                <a:solidFill>
                  <a:schemeClr val="tx1"/>
                </a:solidFill>
                <a:latin typeface="方正正中黑简体" panose="02000500000000000000" pitchFamily="2" charset="-122"/>
                <a:ea typeface="方正正中黑简体" panose="02000500000000000000" pitchFamily="2" charset="-122"/>
                <a:cs typeface="+mn-cs"/>
              </a:defRPr>
            </a:lvl3pPr>
            <a:lvl4pPr>
              <a:lnSpc>
                <a:spcPct val="130000"/>
              </a:lnSpc>
              <a:spcBef>
                <a:spcPts val="0"/>
              </a:spcBef>
              <a:defRPr lang="zh-CN" altLang="en-US" sz="2000" kern="1200" dirty="0" smtClean="0">
                <a:solidFill>
                  <a:schemeClr val="tx1"/>
                </a:solidFill>
                <a:latin typeface="方正正中黑简体" panose="02000500000000000000" pitchFamily="2" charset="-122"/>
                <a:ea typeface="方正正中黑简体" panose="02000500000000000000" pitchFamily="2" charset="-122"/>
                <a:cs typeface="+mn-cs"/>
              </a:defRPr>
            </a:lvl4pPr>
            <a:lvl5pPr>
              <a:lnSpc>
                <a:spcPct val="130000"/>
              </a:lnSpc>
              <a:spcBef>
                <a:spcPts val="0"/>
              </a:spcBef>
              <a:defRPr lang="zh-CN" altLang="en-US" sz="1900" kern="1200" dirty="0">
                <a:solidFill>
                  <a:schemeClr val="tx1"/>
                </a:solidFill>
                <a:latin typeface="方正正中黑简体" panose="02000500000000000000" pitchFamily="2" charset="-122"/>
                <a:ea typeface="方正正中黑简体" panose="02000500000000000000" pitchFamily="2" charset="-122"/>
                <a:cs typeface="+mn-cs"/>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algn="r"/>
            <a:fld id="{2019D498-C6D4-4757-9DD1-B7486FD515F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2400" b="0" cap="all">
                <a:solidFill>
                  <a:schemeClr val="accent5">
                    <a:lumMod val="75000"/>
                  </a:schemeClr>
                </a:solidFill>
                <a:latin typeface="方正正中黑简体" panose="02000500000000000000" pitchFamily="2" charset="-122"/>
                <a:ea typeface="方正正中黑简体" panose="02000500000000000000" pitchFamily="2"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400">
                <a:solidFill>
                  <a:schemeClr val="tx1"/>
                </a:solidFill>
                <a:latin typeface="方正正中黑简体" panose="02000500000000000000" pitchFamily="2" charset="-122"/>
                <a:ea typeface="方正正中黑简体" panose="020005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lvl1pPr algn="r">
              <a:defRPr/>
            </a:lvl1pPr>
          </a:lstStyle>
          <a:p>
            <a:fld id="{2019D498-C6D4-4757-9DD1-B7486FD515F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09600" y="1268761"/>
            <a:ext cx="5384800" cy="4525963"/>
          </a:xfrm>
          <a:prstGeom prst="rect">
            <a:avLst/>
          </a:prstGeom>
        </p:spPr>
        <p:txBody>
          <a:bodyPr/>
          <a:lstStyle>
            <a:lvl1pPr>
              <a:lnSpc>
                <a:spcPts val="3000"/>
              </a:lnSpc>
              <a:spcBef>
                <a:spcPts val="600"/>
              </a:spcBef>
              <a:defRPr sz="2400">
                <a:latin typeface="方正正中黑简体" panose="02000500000000000000" pitchFamily="2" charset="-122"/>
                <a:ea typeface="方正正中黑简体" panose="02000500000000000000" pitchFamily="2" charset="-122"/>
              </a:defRPr>
            </a:lvl1pPr>
            <a:lvl2pPr>
              <a:lnSpc>
                <a:spcPts val="3000"/>
              </a:lnSpc>
              <a:spcBef>
                <a:spcPts val="600"/>
              </a:spcBef>
              <a:defRPr lang="zh-CN" altLang="en-US" sz="2200" kern="1200" dirty="0" smtClean="0">
                <a:solidFill>
                  <a:schemeClr val="tx1"/>
                </a:solidFill>
                <a:latin typeface="方正正中黑简体" panose="02000500000000000000" pitchFamily="2" charset="-122"/>
                <a:ea typeface="方正正中黑简体" panose="02000500000000000000" pitchFamily="2" charset="-122"/>
                <a:cs typeface="+mn-cs"/>
              </a:defRPr>
            </a:lvl2pPr>
            <a:lvl3pPr>
              <a:lnSpc>
                <a:spcPts val="3000"/>
              </a:lnSpc>
              <a:spcBef>
                <a:spcPts val="0"/>
              </a:spcBef>
              <a:defRPr lang="zh-CN" altLang="en-US" sz="2100" kern="1200" dirty="0" smtClean="0">
                <a:solidFill>
                  <a:schemeClr val="tx1"/>
                </a:solidFill>
                <a:latin typeface="方正正中黑简体" panose="02000500000000000000" pitchFamily="2" charset="-122"/>
                <a:ea typeface="方正正中黑简体" panose="02000500000000000000" pitchFamily="2" charset="-122"/>
                <a:cs typeface="+mn-cs"/>
              </a:defRPr>
            </a:lvl3pPr>
            <a:lvl4pPr>
              <a:lnSpc>
                <a:spcPts val="3000"/>
              </a:lnSpc>
              <a:spcBef>
                <a:spcPts val="0"/>
              </a:spcBef>
              <a:defRPr lang="zh-CN" altLang="en-US" sz="2000" kern="1200" dirty="0" smtClean="0">
                <a:solidFill>
                  <a:schemeClr val="tx1"/>
                </a:solidFill>
                <a:latin typeface="方正正中黑简体" panose="02000500000000000000" pitchFamily="2" charset="-122"/>
                <a:ea typeface="方正正中黑简体" panose="02000500000000000000" pitchFamily="2" charset="-122"/>
                <a:cs typeface="+mn-cs"/>
              </a:defRPr>
            </a:lvl4pPr>
            <a:lvl5pPr>
              <a:lnSpc>
                <a:spcPts val="3000"/>
              </a:lnSpc>
              <a:spcBef>
                <a:spcPts val="0"/>
              </a:spcBef>
              <a:defRPr lang="zh-CN" altLang="en-US" sz="1900" kern="1200" dirty="0">
                <a:solidFill>
                  <a:schemeClr val="tx1"/>
                </a:solidFill>
                <a:latin typeface="方正正中黑简体" panose="02000500000000000000" pitchFamily="2" charset="-122"/>
                <a:ea typeface="方正正中黑简体" panose="02000500000000000000" pitchFamily="2" charset="-122"/>
                <a:cs typeface="+mn-cs"/>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标题 1"/>
          <p:cNvSpPr>
            <a:spLocks noGrp="1"/>
          </p:cNvSpPr>
          <p:nvPr>
            <p:ph type="title"/>
          </p:nvPr>
        </p:nvSpPr>
        <p:spPr>
          <a:xfrm>
            <a:off x="431371" y="133784"/>
            <a:ext cx="10972800" cy="486905"/>
          </a:xfrm>
          <a:prstGeom prst="rect">
            <a:avLst/>
          </a:prstGeom>
          <a:effectLst>
            <a:reflection blurRad="6350" stA="25000" endPos="81000" dir="5400000" sy="-100000" algn="bl" rotWithShape="0"/>
          </a:effectLst>
        </p:spPr>
        <p:txBody>
          <a:bodyPr/>
          <a:lstStyle>
            <a:lvl1pPr algn="l">
              <a:defRPr lang="zh-CN" altLang="en-US" sz="3200" kern="1200" dirty="0">
                <a:solidFill>
                  <a:schemeClr val="bg1"/>
                </a:solidFill>
                <a:latin typeface="汉仪菱心体简" panose="02010400000101010101" pitchFamily="49" charset="-122"/>
                <a:ea typeface="汉仪菱心体简" panose="02010400000101010101" pitchFamily="49" charset="-122"/>
                <a:cs typeface="+mj-cs"/>
              </a:defRPr>
            </a:lvl1pPr>
          </a:lstStyle>
          <a:p>
            <a:r>
              <a:rPr lang="zh-CN" altLang="en-US" dirty="0"/>
              <a:t>单击此处编辑母版标题样式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8737600" y="6356351"/>
            <a:ext cx="2844800" cy="365125"/>
          </a:xfrm>
          <a:prstGeom prst="rect">
            <a:avLst/>
          </a:prstGeom>
        </p:spPr>
        <p:txBody>
          <a:bodyPr/>
          <a:lstStyle/>
          <a:p>
            <a:pPr algn="r"/>
            <a:fld id="{2019D498-C6D4-4757-9DD1-B7486FD515F8}" type="slidenum">
              <a:rPr lang="zh-CN" altLang="en-US" smtClean="0"/>
            </a:fld>
            <a:endParaRPr lang="zh-CN" altLang="en-US"/>
          </a:p>
        </p:txBody>
      </p:sp>
      <p:sp>
        <p:nvSpPr>
          <p:cNvPr id="6" name="标题 1"/>
          <p:cNvSpPr>
            <a:spLocks noGrp="1"/>
          </p:cNvSpPr>
          <p:nvPr>
            <p:ph type="title"/>
          </p:nvPr>
        </p:nvSpPr>
        <p:spPr>
          <a:xfrm>
            <a:off x="431371" y="133784"/>
            <a:ext cx="10972800" cy="486905"/>
          </a:xfrm>
          <a:prstGeom prst="rect">
            <a:avLst/>
          </a:prstGeom>
          <a:effectLst>
            <a:reflection blurRad="6350" stA="25000" endPos="81000" dir="5400000" sy="-100000" algn="bl" rotWithShape="0"/>
          </a:effectLst>
        </p:spPr>
        <p:txBody>
          <a:bodyPr/>
          <a:lstStyle>
            <a:lvl1pPr algn="l">
              <a:defRPr lang="zh-CN" altLang="en-US" sz="3200" kern="1200" dirty="0">
                <a:solidFill>
                  <a:schemeClr val="bg1"/>
                </a:solidFill>
                <a:latin typeface="汉仪菱心体简" panose="02010400000101010101" pitchFamily="49" charset="-122"/>
                <a:ea typeface="汉仪菱心体简" panose="02010400000101010101" pitchFamily="49" charset="-122"/>
                <a:cs typeface="+mj-cs"/>
              </a:defRPr>
            </a:lvl1pPr>
          </a:lstStyle>
          <a:p>
            <a:r>
              <a:rPr lang="zh-CN" altLang="en-US" dirty="0"/>
              <a:t>单击此处编辑母版标题样式</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400" b="0">
                <a:solidFill>
                  <a:schemeClr val="accent5">
                    <a:lumMod val="75000"/>
                  </a:schemeClr>
                </a:solidFill>
                <a:latin typeface="方正正中黑简体" panose="02000500000000000000" pitchFamily="2" charset="-122"/>
                <a:ea typeface="方正正中黑简体" panose="02000500000000000000" pitchFamily="2" charset="-122"/>
              </a:defRPr>
            </a:lvl1pPr>
          </a:lstStyle>
          <a:p>
            <a:r>
              <a:rPr lang="zh-CN" altLang="en-US" dirty="0"/>
              <a:t>单击此处编辑母版标题样式</a:t>
            </a:r>
            <a:endParaRPr lang="zh-CN" altLang="en-US" dirty="0"/>
          </a:p>
        </p:txBody>
      </p:sp>
      <p:sp>
        <p:nvSpPr>
          <p:cNvPr id="3" name="图片占位符 2"/>
          <p:cNvSpPr>
            <a:spLocks noGrp="1"/>
          </p:cNvSpPr>
          <p:nvPr>
            <p:ph type="pic" idx="1"/>
          </p:nvPr>
        </p:nvSpPr>
        <p:spPr>
          <a:xfrm>
            <a:off x="2389717" y="1052736"/>
            <a:ext cx="7315200" cy="367483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2400">
                <a:latin typeface="方正正中黑简体" panose="02000500000000000000" pitchFamily="2" charset="-122"/>
                <a:ea typeface="方正正中黑简体" panose="02000500000000000000"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endParaRPr lang="zh-CN" altLang="en-US" dirty="0"/>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lvl1pPr algn="r">
              <a:defRPr/>
            </a:lvl1pPr>
          </a:lstStyle>
          <a:p>
            <a:fld id="{2019D498-C6D4-4757-9DD1-B7486FD515F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8737600" y="6356351"/>
            <a:ext cx="2844800" cy="365125"/>
          </a:xfrm>
          <a:prstGeom prst="rect">
            <a:avLst/>
          </a:prstGeom>
        </p:spPr>
        <p:txBody>
          <a:bodyPr/>
          <a:lstStyle/>
          <a:p>
            <a:pPr algn="r"/>
            <a:fld id="{2019D498-C6D4-4757-9DD1-B7486FD515F8}" type="slidenum">
              <a:rPr lang="zh-CN" altLang="en-US" smtClean="0"/>
            </a:fld>
            <a:endParaRPr lang="zh-CN" altLang="en-US"/>
          </a:p>
        </p:txBody>
      </p:sp>
      <p:sp>
        <p:nvSpPr>
          <p:cNvPr id="7" name="标题 1"/>
          <p:cNvSpPr>
            <a:spLocks noGrp="1"/>
          </p:cNvSpPr>
          <p:nvPr>
            <p:ph type="ctrTitle" hasCustomPrompt="1"/>
          </p:nvPr>
        </p:nvSpPr>
        <p:spPr>
          <a:xfrm>
            <a:off x="914399" y="2599447"/>
            <a:ext cx="10363200" cy="824251"/>
          </a:xfrm>
          <a:prstGeom prst="rect">
            <a:avLst/>
          </a:prstGeom>
          <a:ln>
            <a:noFill/>
          </a:ln>
          <a:effectLst>
            <a:reflection blurRad="6350" stA="25000" endPos="76000" dir="5400000" sy="-100000" algn="bl" rotWithShape="0"/>
          </a:effectLst>
        </p:spPr>
        <p:txBody>
          <a:bodyPr/>
          <a:lstStyle/>
          <a:p>
            <a:r>
              <a:rPr lang="zh-CN" altLang="en-US" sz="5400" dirty="0">
                <a:solidFill>
                  <a:schemeClr val="accent5">
                    <a:lumMod val="75000"/>
                  </a:schemeClr>
                </a:solidFill>
                <a:latin typeface="汉仪菱心体简" panose="02010400000101010101" pitchFamily="49" charset="-122"/>
                <a:ea typeface="汉仪菱心体简" panose="02010400000101010101" pitchFamily="49" charset="-122"/>
              </a:rPr>
              <a:t>信息系统安全与对抗技术</a:t>
            </a:r>
            <a:endParaRPr lang="zh-CN" altLang="en-US" sz="5400" dirty="0">
              <a:solidFill>
                <a:schemeClr val="accent5">
                  <a:lumMod val="75000"/>
                </a:schemeClr>
              </a:solidFill>
              <a:latin typeface="汉仪菱心体简" panose="02010400000101010101" pitchFamily="49" charset="-122"/>
              <a:ea typeface="汉仪菱心体简" panose="02010400000101010101" pitchFamily="49" charset="-122"/>
            </a:endParaRPr>
          </a:p>
        </p:txBody>
      </p:sp>
      <p:sp>
        <p:nvSpPr>
          <p:cNvPr id="8" name="副标题 2"/>
          <p:cNvSpPr>
            <a:spLocks noGrp="1"/>
          </p:cNvSpPr>
          <p:nvPr>
            <p:ph type="subTitle" idx="1" hasCustomPrompt="1"/>
          </p:nvPr>
        </p:nvSpPr>
        <p:spPr>
          <a:xfrm>
            <a:off x="7728181" y="5227459"/>
            <a:ext cx="3264363" cy="576064"/>
          </a:xfrm>
          <a:prstGeom prst="rect">
            <a:avLst/>
          </a:prstGeom>
        </p:spPr>
        <p:txBody>
          <a:bodyPr/>
          <a:lstStyle>
            <a:lvl1pPr marL="0" indent="0" algn="r">
              <a:buNone/>
              <a:defRPr/>
            </a:lvl1pPr>
          </a:lstStyle>
          <a:p>
            <a:pPr algn="l">
              <a:defRPr/>
            </a:pPr>
            <a:r>
              <a:rPr lang="zh-CN" altLang="en-US" sz="2800" dirty="0">
                <a:solidFill>
                  <a:schemeClr val="tx1">
                    <a:lumMod val="65000"/>
                    <a:lumOff val="35000"/>
                  </a:schemeClr>
                </a:solidFill>
                <a:latin typeface="方正正中黑简体" panose="02000500000000000000" pitchFamily="2" charset="-122"/>
                <a:ea typeface="方正正中黑简体" panose="02000500000000000000" pitchFamily="2" charset="-122"/>
              </a:rPr>
              <a:t>姓名   职务</a:t>
            </a:r>
            <a:endParaRPr lang="en-US" altLang="zh-CN" sz="2800" dirty="0">
              <a:solidFill>
                <a:schemeClr val="tx1">
                  <a:lumMod val="65000"/>
                  <a:lumOff val="35000"/>
                </a:schemeClr>
              </a:solidFill>
              <a:latin typeface="方正正中黑简体" panose="02000500000000000000" pitchFamily="2" charset="-122"/>
              <a:ea typeface="方正正中黑简体" panose="02000500000000000000" pitchFamily="2" charset="-122"/>
            </a:endParaRPr>
          </a:p>
        </p:txBody>
      </p:sp>
      <p:sp>
        <p:nvSpPr>
          <p:cNvPr id="12" name="副标题 2"/>
          <p:cNvSpPr txBox="1"/>
          <p:nvPr userDrawn="1"/>
        </p:nvSpPr>
        <p:spPr>
          <a:xfrm>
            <a:off x="1199456" y="1196752"/>
            <a:ext cx="8256917" cy="960512"/>
          </a:xfrm>
          <a:prstGeom prst="rect">
            <a:avLst/>
          </a:prstGeom>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r">
              <a:defRPr/>
            </a:pPr>
            <a:r>
              <a:rPr lang="en-US" altLang="zh-CN" sz="2400" kern="1200" dirty="0">
                <a:solidFill>
                  <a:schemeClr val="bg1"/>
                </a:solidFill>
                <a:latin typeface="方正正中黑简体" panose="02000500000000000000" pitchFamily="2" charset="-122"/>
                <a:ea typeface="方正正中黑简体" panose="02000500000000000000" pitchFamily="2" charset="-122"/>
                <a:cs typeface="+mn-cs"/>
              </a:rPr>
              <a:t>The name of the Department</a:t>
            </a:r>
            <a:endParaRPr lang="en-US" altLang="zh-CN" sz="2400" kern="1200" dirty="0">
              <a:solidFill>
                <a:schemeClr val="bg1"/>
              </a:solidFill>
              <a:latin typeface="方正正中黑简体" panose="02000500000000000000" pitchFamily="2" charset="-122"/>
              <a:ea typeface="方正正中黑简体" panose="02000500000000000000" pitchFamily="2" charset="-122"/>
              <a:cs typeface="+mn-cs"/>
            </a:endParaRPr>
          </a:p>
          <a:p>
            <a:pPr algn="r">
              <a:defRPr/>
            </a:pPr>
            <a:r>
              <a:rPr lang="zh-CN" altLang="en-US" sz="2400" dirty="0">
                <a:solidFill>
                  <a:schemeClr val="bg1"/>
                </a:solidFill>
                <a:latin typeface="方正正中黑简体" panose="02000500000000000000" pitchFamily="2" charset="-122"/>
                <a:ea typeface="方正正中黑简体" panose="02000500000000000000" pitchFamily="2" charset="-122"/>
              </a:rPr>
              <a:t>部门名称</a:t>
            </a:r>
            <a:endParaRPr lang="en-US" altLang="zh-CN" sz="2400" dirty="0">
              <a:solidFill>
                <a:schemeClr val="bg1"/>
              </a:solidFill>
              <a:latin typeface="方正正中黑简体" panose="02000500000000000000" pitchFamily="2" charset="-122"/>
              <a:ea typeface="方正正中黑简体"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P spid="12" grpId="0"/>
      <p:bldP spid="12" grpId="1"/>
    </p:bld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a:xfrm>
            <a:off x="0" y="0"/>
            <a:ext cx="12192000" cy="836712"/>
          </a:xfrm>
          <a:prstGeom prst="rect">
            <a:avLst/>
          </a:prstGeom>
          <a:solidFill>
            <a:srgbClr val="3468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5" name="Picture 2" descr="D:\实验室资源管理\BFS-logos\v2.0-2011.11.21\BFS_logo_圆形_反色_圆形.png"/>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1280576" y="-27384"/>
            <a:ext cx="871405" cy="90602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7384"/>
            <a:ext cx="12192000" cy="2492896"/>
          </a:xfrm>
          <a:prstGeom prst="rect">
            <a:avLst/>
          </a:prstGeom>
          <a:solidFill>
            <a:srgbClr val="3C70D0"/>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副标题 2"/>
          <p:cNvSpPr txBox="1"/>
          <p:nvPr/>
        </p:nvSpPr>
        <p:spPr>
          <a:xfrm>
            <a:off x="2495600" y="318964"/>
            <a:ext cx="6192688" cy="1800200"/>
          </a:xfrm>
          <a:prstGeom prst="rect">
            <a:avLst/>
          </a:prstGeom>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r">
              <a:defRPr/>
            </a:pPr>
            <a:r>
              <a:rPr lang="zh-CN" altLang="en-US" sz="2400" dirty="0">
                <a:solidFill>
                  <a:schemeClr val="bg1"/>
                </a:solidFill>
                <a:latin typeface="方正正中黑简体" panose="02000500000000000000" pitchFamily="2" charset="-122"/>
                <a:ea typeface="方正正中黑简体" panose="02000500000000000000" pitchFamily="2" charset="-122"/>
              </a:rPr>
              <a:t>北京理工大学</a:t>
            </a:r>
            <a:endParaRPr lang="en-US" altLang="zh-CN" sz="2400" dirty="0">
              <a:solidFill>
                <a:schemeClr val="bg1"/>
              </a:solidFill>
              <a:latin typeface="方正正中黑简体" panose="02000500000000000000" pitchFamily="2" charset="-122"/>
              <a:ea typeface="方正正中黑简体" panose="02000500000000000000" pitchFamily="2" charset="-122"/>
            </a:endParaRPr>
          </a:p>
          <a:p>
            <a:pPr algn="r">
              <a:defRPr/>
            </a:pPr>
            <a:r>
              <a:rPr lang="zh-CN" altLang="en-US" sz="2400" dirty="0">
                <a:solidFill>
                  <a:schemeClr val="bg1"/>
                </a:solidFill>
                <a:latin typeface="方正正中黑简体" panose="02000500000000000000" pitchFamily="2" charset="-122"/>
                <a:ea typeface="方正正中黑简体" panose="02000500000000000000" pitchFamily="2" charset="-122"/>
              </a:rPr>
              <a:t>信息系统及安全对抗实验中心</a:t>
            </a:r>
            <a:endParaRPr lang="en-US" altLang="zh-CN" sz="2400" dirty="0">
              <a:solidFill>
                <a:schemeClr val="bg1"/>
              </a:solidFill>
              <a:latin typeface="方正正中黑简体" panose="02000500000000000000" pitchFamily="2" charset="-122"/>
              <a:ea typeface="方正正中黑简体" panose="02000500000000000000" pitchFamily="2" charset="-122"/>
            </a:endParaRPr>
          </a:p>
          <a:p>
            <a:pPr algn="r">
              <a:defRPr/>
            </a:pPr>
            <a:r>
              <a:rPr lang="zh-CN" altLang="en-US" sz="2400" dirty="0">
                <a:solidFill>
                  <a:schemeClr val="bg1"/>
                </a:solidFill>
                <a:latin typeface="方正正中黑简体" panose="02000500000000000000" pitchFamily="2" charset="-122"/>
                <a:ea typeface="方正正中黑简体" panose="02000500000000000000" pitchFamily="2" charset="-122"/>
              </a:rPr>
              <a:t>信息安全与对抗技术研究所</a:t>
            </a:r>
            <a:endParaRPr lang="en-US" altLang="zh-CN" sz="2400" dirty="0">
              <a:solidFill>
                <a:schemeClr val="bg1"/>
              </a:solidFill>
              <a:latin typeface="方正正中黑简体" panose="02000500000000000000" pitchFamily="2" charset="-122"/>
              <a:ea typeface="方正正中黑简体" panose="02000500000000000000" pitchFamily="2" charset="-122"/>
            </a:endParaRPr>
          </a:p>
          <a:p>
            <a:pPr algn="r">
              <a:defRPr/>
            </a:pPr>
            <a:r>
              <a:rPr lang="en-US" altLang="zh-CN" sz="2400" dirty="0">
                <a:solidFill>
                  <a:schemeClr val="bg1"/>
                </a:solidFill>
                <a:latin typeface="方正正中黑简体" panose="02000500000000000000" pitchFamily="2" charset="-122"/>
                <a:ea typeface="方正正中黑简体" panose="02000500000000000000" pitchFamily="2" charset="-122"/>
              </a:rPr>
              <a:t>Beijing Forest Studio</a:t>
            </a:r>
            <a:endParaRPr lang="en-US" altLang="zh-CN" sz="2400" dirty="0">
              <a:solidFill>
                <a:schemeClr val="bg1"/>
              </a:solidFill>
              <a:latin typeface="方正正中黑简体" panose="02000500000000000000" pitchFamily="2" charset="-122"/>
              <a:ea typeface="方正正中黑简体" panose="02000500000000000000" pitchFamily="2" charset="-122"/>
            </a:endParaRPr>
          </a:p>
          <a:p>
            <a:pPr algn="r">
              <a:defRPr/>
            </a:pPr>
            <a:endParaRPr lang="en-US" altLang="zh-CN" sz="2400" dirty="0">
              <a:solidFill>
                <a:schemeClr val="bg1"/>
              </a:solidFill>
              <a:latin typeface="方正正中黑简体" panose="02000500000000000000" pitchFamily="2" charset="-122"/>
              <a:ea typeface="方正正中黑简体" panose="02000500000000000000" pitchFamily="2" charset="-122"/>
            </a:endParaRPr>
          </a:p>
        </p:txBody>
      </p:sp>
      <p:pic>
        <p:nvPicPr>
          <p:cNvPr id="12" name="图片 11"/>
          <p:cNvPicPr/>
          <p:nvPr/>
        </p:nvPicPr>
        <p:blipFill>
          <a:blip r:embed="rId1">
            <a:extLst>
              <a:ext uri="{28A0092B-C50C-407E-A947-70E740481C1C}">
                <a14:useLocalDpi xmlns:a14="http://schemas.microsoft.com/office/drawing/2010/main" val="0"/>
              </a:ext>
            </a:extLst>
          </a:blip>
          <a:stretch>
            <a:fillRect/>
          </a:stretch>
        </p:blipFill>
        <p:spPr>
          <a:xfrm>
            <a:off x="9360144" y="676788"/>
            <a:ext cx="1080000" cy="1080000"/>
          </a:xfrm>
          <a:prstGeom prst="rect">
            <a:avLst/>
          </a:prstGeom>
        </p:spPr>
      </p:pic>
      <p:sp>
        <p:nvSpPr>
          <p:cNvPr id="14" name="文本框 13"/>
          <p:cNvSpPr txBox="1"/>
          <p:nvPr/>
        </p:nvSpPr>
        <p:spPr>
          <a:xfrm>
            <a:off x="623392" y="2517751"/>
            <a:ext cx="10729192" cy="768350"/>
          </a:xfrm>
          <a:prstGeom prst="rect">
            <a:avLst/>
          </a:prstGeom>
          <a:noFill/>
        </p:spPr>
        <p:txBody>
          <a:bodyPr wrap="square" rtlCol="0">
            <a:spAutoFit/>
          </a:bodyPr>
          <a:lstStyle/>
          <a:p>
            <a:pPr algn="ctr"/>
            <a:r>
              <a:rPr lang="zh-CN" altLang="en-US" sz="4400" dirty="0">
                <a:solidFill>
                  <a:srgbClr val="3064C9"/>
                </a:solidFill>
                <a:latin typeface="汉仪菱心体简" panose="02010400000101010101" pitchFamily="49" charset="-122"/>
                <a:ea typeface="汉仪菱心体简" panose="02010400000101010101" pitchFamily="49" charset="-122"/>
              </a:rPr>
              <a:t>二进制程序函数漏洞同源性判别</a:t>
            </a:r>
            <a:endParaRPr lang="en-US" altLang="zh-CN" sz="4400" dirty="0">
              <a:solidFill>
                <a:schemeClr val="accent6">
                  <a:lumMod val="75000"/>
                </a:schemeClr>
              </a:solidFill>
              <a:latin typeface="汉仪菱心体简" panose="02010400000101010101" pitchFamily="49" charset="-122"/>
              <a:ea typeface="汉仪菱心体简" panose="02010400000101010101" pitchFamily="49" charset="-122"/>
            </a:endParaRPr>
          </a:p>
        </p:txBody>
      </p:sp>
      <p:sp>
        <p:nvSpPr>
          <p:cNvPr id="11" name="副标题 2"/>
          <p:cNvSpPr txBox="1"/>
          <p:nvPr/>
        </p:nvSpPr>
        <p:spPr>
          <a:xfrm>
            <a:off x="2847584" y="5227459"/>
            <a:ext cx="6920824" cy="5760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defRPr/>
            </a:pPr>
            <a:r>
              <a:rPr lang="en-US" altLang="zh-CN" dirty="0">
                <a:latin typeface="方正正中黑简体" panose="02000500000000000000" pitchFamily="2" charset="-122"/>
                <a:ea typeface="方正正中黑简体" panose="02000500000000000000" pitchFamily="2" charset="-122"/>
              </a:rPr>
              <a:t>xx</a:t>
            </a:r>
            <a:endParaRPr lang="zh-CN" altLang="en-US" dirty="0">
              <a:latin typeface="方正正中黑简体" panose="02000500000000000000" pitchFamily="2" charset="-122"/>
              <a:ea typeface="方正正中黑简体" panose="02000500000000000000" pitchFamily="2" charset="-122"/>
            </a:endParaRPr>
          </a:p>
        </p:txBody>
      </p:sp>
      <p:sp>
        <p:nvSpPr>
          <p:cNvPr id="13" name="副标题 2"/>
          <p:cNvSpPr txBox="1"/>
          <p:nvPr/>
        </p:nvSpPr>
        <p:spPr>
          <a:xfrm>
            <a:off x="2941144" y="4581128"/>
            <a:ext cx="6827263" cy="5760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defRPr/>
            </a:pPr>
            <a:r>
              <a:rPr lang="zh-CN" altLang="en-US" sz="3200" b="1" dirty="0">
                <a:solidFill>
                  <a:schemeClr val="accent6">
                    <a:lumMod val="75000"/>
                  </a:schemeClr>
                </a:solidFill>
                <a:latin typeface="方正正中黑简体" panose="02000500000000000000" pitchFamily="2" charset="-122"/>
                <a:ea typeface="方正正中黑简体" panose="02000500000000000000" pitchFamily="2" charset="-122"/>
                <a:cs typeface="Times New Roman" panose="02020603050405020304" pitchFamily="18" charset="0"/>
              </a:rPr>
              <a:t>信息系统与安全对抗理论</a:t>
            </a:r>
            <a:r>
              <a:rPr lang="en-US" altLang="zh-CN" sz="3200" b="1" dirty="0">
                <a:solidFill>
                  <a:schemeClr val="accent6">
                    <a:lumMod val="75000"/>
                  </a:schemeClr>
                </a:solidFill>
                <a:latin typeface="方正正中黑简体" panose="02000500000000000000" pitchFamily="2" charset="-122"/>
                <a:ea typeface="方正正中黑简体" panose="02000500000000000000" pitchFamily="2" charset="-122"/>
                <a:cs typeface="Times New Roman" panose="02020603050405020304" pitchFamily="18" charset="0"/>
              </a:rPr>
              <a:t>【</a:t>
            </a:r>
            <a:r>
              <a:rPr lang="zh-CN" altLang="en-US" sz="3200" b="1" dirty="0">
                <a:solidFill>
                  <a:schemeClr val="accent6">
                    <a:lumMod val="75000"/>
                  </a:schemeClr>
                </a:solidFill>
                <a:latin typeface="方正正中黑简体" panose="02000500000000000000" pitchFamily="2" charset="-122"/>
                <a:ea typeface="方正正中黑简体" panose="02000500000000000000" pitchFamily="2" charset="-122"/>
                <a:cs typeface="Times New Roman" panose="02020603050405020304" pitchFamily="18" charset="0"/>
              </a:rPr>
              <a:t>研究报告</a:t>
            </a:r>
            <a:r>
              <a:rPr lang="en-US" altLang="zh-CN" sz="3200" b="1" dirty="0">
                <a:solidFill>
                  <a:schemeClr val="accent6">
                    <a:lumMod val="75000"/>
                  </a:schemeClr>
                </a:solidFill>
                <a:latin typeface="方正正中黑简体" panose="02000500000000000000" pitchFamily="2" charset="-122"/>
                <a:ea typeface="方正正中黑简体" panose="02000500000000000000" pitchFamily="2" charset="-122"/>
                <a:cs typeface="Times New Roman" panose="02020603050405020304" pitchFamily="18" charset="0"/>
              </a:rPr>
              <a:t>】</a:t>
            </a:r>
            <a:endParaRPr lang="zh-CN" altLang="en-US" sz="3200" b="1" dirty="0">
              <a:solidFill>
                <a:schemeClr val="accent6">
                  <a:lumMod val="75000"/>
                </a:schemeClr>
              </a:solidFill>
              <a:latin typeface="方正正中黑简体" panose="02000500000000000000" pitchFamily="2" charset="-122"/>
              <a:ea typeface="方正正中黑简体" panose="02000500000000000000" pitchFamily="2" charset="-122"/>
              <a:cs typeface="Times New Roman" panose="02020603050405020304" pitchFamily="18" charset="0"/>
            </a:endParaRPr>
          </a:p>
        </p:txBody>
      </p:sp>
      <p:sp>
        <p:nvSpPr>
          <p:cNvPr id="8" name="副标题 2"/>
          <p:cNvSpPr txBox="1"/>
          <p:nvPr/>
        </p:nvSpPr>
        <p:spPr>
          <a:xfrm>
            <a:off x="5951984" y="5805264"/>
            <a:ext cx="3816424" cy="5760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defRPr/>
            </a:pPr>
            <a:endParaRPr lang="en-US" altLang="zh-CN" sz="2400" dirty="0">
              <a:solidFill>
                <a:srgbClr val="3C70D0"/>
              </a:solidFill>
              <a:latin typeface="方正正中黑简体" panose="02000500000000000000" pitchFamily="2" charset="-122"/>
              <a:ea typeface="方正正中黑简体" panose="02000500000000000000" pitchFamily="2" charset="-122"/>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a:off x="998254" y="532253"/>
            <a:ext cx="1313378" cy="1369069"/>
          </a:xfrm>
          <a:prstGeom prst="rect">
            <a:avLst/>
          </a:prstGeom>
        </p:spPr>
      </p:pic>
      <p:pic>
        <p:nvPicPr>
          <p:cNvPr id="10" name="Picture 2" descr="D:\ISCC\lsl\BITISCC\LOGO\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2434" y="636985"/>
            <a:ext cx="1159601" cy="115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副标题 2"/>
          <p:cNvSpPr txBox="1"/>
          <p:nvPr/>
        </p:nvSpPr>
        <p:spPr>
          <a:xfrm>
            <a:off x="3884721" y="5962972"/>
            <a:ext cx="5883686" cy="5760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defRPr/>
            </a:pPr>
            <a:r>
              <a:rPr lang="en-US" altLang="zh-CN" sz="2400">
                <a:solidFill>
                  <a:srgbClr val="3E73D2"/>
                </a:solidFill>
                <a:latin typeface="方正正中黑简体" panose="02000500000000000000" pitchFamily="2" charset="-122"/>
                <a:ea typeface="方正正中黑简体" panose="02000500000000000000" pitchFamily="2" charset="-122"/>
              </a:rPr>
              <a:t>2025</a:t>
            </a:r>
            <a:r>
              <a:rPr lang="zh-CN" altLang="en-US" sz="2400">
                <a:solidFill>
                  <a:srgbClr val="3E73D2"/>
                </a:solidFill>
                <a:latin typeface="方正正中黑简体" panose="02000500000000000000" pitchFamily="2" charset="-122"/>
                <a:ea typeface="方正正中黑简体" panose="02000500000000000000" pitchFamily="2" charset="-122"/>
              </a:rPr>
              <a:t>年</a:t>
            </a:r>
            <a:r>
              <a:rPr lang="en-US" altLang="zh-CN" sz="2400">
                <a:solidFill>
                  <a:srgbClr val="3E73D2"/>
                </a:solidFill>
                <a:latin typeface="方正正中黑简体" panose="02000500000000000000" pitchFamily="2" charset="-122"/>
                <a:ea typeface="方正正中黑简体" panose="02000500000000000000" pitchFamily="2" charset="-122"/>
              </a:rPr>
              <a:t>12</a:t>
            </a:r>
            <a:r>
              <a:rPr lang="zh-CN" altLang="en-US" sz="2400" dirty="0">
                <a:solidFill>
                  <a:srgbClr val="3E73D2"/>
                </a:solidFill>
                <a:latin typeface="方正正中黑简体" panose="02000500000000000000" pitchFamily="2" charset="-122"/>
                <a:ea typeface="方正正中黑简体" panose="02000500000000000000" pitchFamily="2" charset="-122"/>
              </a:rPr>
              <a:t>月</a:t>
            </a:r>
            <a:r>
              <a:rPr lang="en-US" altLang="zh-CN" sz="2400" dirty="0">
                <a:solidFill>
                  <a:srgbClr val="3E73D2"/>
                </a:solidFill>
                <a:latin typeface="方正正中黑简体" panose="02000500000000000000" pitchFamily="2" charset="-122"/>
                <a:ea typeface="方正正中黑简体" panose="02000500000000000000" pitchFamily="2" charset="-122"/>
              </a:rPr>
              <a:t>4</a:t>
            </a:r>
            <a:r>
              <a:rPr lang="zh-CN" altLang="en-US" sz="2400" dirty="0">
                <a:solidFill>
                  <a:srgbClr val="3E73D2"/>
                </a:solidFill>
                <a:latin typeface="方正正中黑简体" panose="02000500000000000000" pitchFamily="2" charset="-122"/>
                <a:ea typeface="方正正中黑简体" panose="02000500000000000000" pitchFamily="2" charset="-122"/>
              </a:rPr>
              <a:t>日</a:t>
            </a:r>
            <a:endParaRPr lang="en-US" altLang="zh-CN" sz="2400" dirty="0">
              <a:solidFill>
                <a:srgbClr val="3E73D2"/>
              </a:solidFill>
              <a:latin typeface="方正正中黑简体" panose="02000500000000000000" pitchFamily="2" charset="-122"/>
              <a:ea typeface="方正正中黑简体"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内容提要</a:t>
            </a:r>
            <a:endParaRPr lang="zh-CN" altLang="en-US" dirty="0"/>
          </a:p>
        </p:txBody>
      </p:sp>
      <p:sp>
        <p:nvSpPr>
          <p:cNvPr id="3" name="内容占位符 2"/>
          <p:cNvSpPr>
            <a:spLocks noGrp="1"/>
          </p:cNvSpPr>
          <p:nvPr>
            <p:ph idx="1"/>
          </p:nvPr>
        </p:nvSpPr>
        <p:spPr/>
        <p:txBody>
          <a:bodyPr/>
          <a:lstStyle/>
          <a:p>
            <a:r>
              <a:rPr lang="zh-CN" altLang="en-US" dirty="0"/>
              <a:t>完成情况</a:t>
            </a:r>
            <a:r>
              <a:rPr lang="en-US" altLang="zh-CN" dirty="0"/>
              <a:t> </a:t>
            </a:r>
            <a:r>
              <a:rPr lang="zh-CN" altLang="en-US" dirty="0"/>
              <a:t>单人</a:t>
            </a:r>
            <a:r>
              <a:rPr lang="en-US" altLang="zh-CN" dirty="0"/>
              <a:t> </a:t>
            </a:r>
            <a:r>
              <a:rPr lang="zh-CN" altLang="en-US" dirty="0"/>
              <a:t>约</a:t>
            </a:r>
            <a:r>
              <a:rPr lang="en-US" altLang="zh-CN" dirty="0"/>
              <a:t>20-30h</a:t>
            </a:r>
            <a:endParaRPr lang="zh-CN" altLang="en-US" dirty="0"/>
          </a:p>
          <a:p>
            <a:r>
              <a:rPr lang="zh-CN" altLang="en-US" dirty="0"/>
              <a:t>主题名称及内涵解析（</a:t>
            </a:r>
            <a:r>
              <a:rPr lang="en-US" altLang="zh-CN" dirty="0"/>
              <a:t>1</a:t>
            </a:r>
            <a:r>
              <a:rPr lang="zh-CN" altLang="en-US" dirty="0"/>
              <a:t>页）</a:t>
            </a:r>
            <a:endParaRPr lang="zh-CN" altLang="en-US" dirty="0"/>
          </a:p>
          <a:p>
            <a:r>
              <a:rPr lang="zh-CN" altLang="en-US" dirty="0"/>
              <a:t>主题研究与主要成果（</a:t>
            </a:r>
            <a:r>
              <a:rPr lang="en-US" altLang="zh-CN" dirty="0"/>
              <a:t>5</a:t>
            </a:r>
            <a:r>
              <a:rPr lang="zh-CN" altLang="en-US" dirty="0"/>
              <a:t>页）</a:t>
            </a:r>
            <a:endParaRPr lang="zh-CN" altLang="en-US" dirty="0"/>
          </a:p>
          <a:p>
            <a:r>
              <a:rPr lang="zh-CN" altLang="en-US" dirty="0"/>
              <a:t>研究问题选定及论证（</a:t>
            </a:r>
            <a:r>
              <a:rPr lang="en-US" altLang="zh-CN" dirty="0"/>
              <a:t>3</a:t>
            </a:r>
            <a:r>
              <a:rPr lang="zh-CN" altLang="en-US" dirty="0"/>
              <a:t>页）</a:t>
            </a:r>
            <a:endParaRPr lang="zh-CN" altLang="en-US" dirty="0"/>
          </a:p>
          <a:p>
            <a:r>
              <a:rPr lang="zh-CN" altLang="en-US" dirty="0"/>
              <a:t>精典案例分析与实践（</a:t>
            </a:r>
            <a:r>
              <a:rPr lang="en-US" altLang="zh-CN" dirty="0"/>
              <a:t>3</a:t>
            </a:r>
            <a:r>
              <a:rPr lang="zh-CN" altLang="en-US" dirty="0"/>
              <a:t>页）</a:t>
            </a:r>
            <a:endParaRPr lang="zh-CN" altLang="en-US" dirty="0"/>
          </a:p>
          <a:p>
            <a:r>
              <a:rPr lang="zh-CN" altLang="en-US" dirty="0"/>
              <a:t>研究过程与问题分析（</a:t>
            </a:r>
            <a:r>
              <a:rPr lang="en-US" altLang="zh-CN" dirty="0"/>
              <a:t>1</a:t>
            </a:r>
            <a:r>
              <a:rPr lang="zh-CN" altLang="en-US" dirty="0"/>
              <a:t>页）</a:t>
            </a:r>
            <a:endParaRPr lang="zh-CN" altLang="en-US" dirty="0"/>
          </a:p>
          <a:p>
            <a:r>
              <a:rPr lang="zh-CN" altLang="en-US" dirty="0"/>
              <a:t>研究结论与主要建议（</a:t>
            </a:r>
            <a:r>
              <a:rPr lang="en-US" altLang="zh-CN" dirty="0"/>
              <a:t>1</a:t>
            </a:r>
            <a:r>
              <a:rPr lang="zh-CN" altLang="en-US" dirty="0"/>
              <a:t>页）</a:t>
            </a:r>
            <a:endParaRPr lang="zh-CN" altLang="en-US" dirty="0"/>
          </a:p>
          <a:p>
            <a:endParaRPr lang="en-US" altLang="zh-CN" dirty="0"/>
          </a:p>
        </p:txBody>
      </p:sp>
      <p:sp>
        <p:nvSpPr>
          <p:cNvPr id="5" name="文本框 4"/>
          <p:cNvSpPr txBox="1"/>
          <p:nvPr/>
        </p:nvSpPr>
        <p:spPr>
          <a:xfrm>
            <a:off x="623392" y="5438215"/>
            <a:ext cx="9725739" cy="960263"/>
          </a:xfrm>
          <a:prstGeom prst="rect">
            <a:avLst/>
          </a:prstGeom>
          <a:noFill/>
        </p:spPr>
        <p:txBody>
          <a:bodyPr wrap="none" rtlCol="0">
            <a:spAutoFit/>
          </a:bodyPr>
          <a:lstStyle/>
          <a:p>
            <a:pPr>
              <a:lnSpc>
                <a:spcPct val="120000"/>
              </a:lnSpc>
            </a:pPr>
            <a:r>
              <a:rPr lang="zh-CN" altLang="en-US" sz="2400" dirty="0">
                <a:solidFill>
                  <a:srgbClr val="3E73D2"/>
                </a:solidFill>
                <a:latin typeface="方正正中黑简体" panose="02000500000000000000" pitchFamily="2" charset="-122"/>
                <a:ea typeface="方正正中黑简体" panose="02000500000000000000" pitchFamily="2" charset="-122"/>
              </a:rPr>
              <a:t>努力培养造就更多大师、战略科学家、一流科技领军人才和创新团队、</a:t>
            </a:r>
            <a:endParaRPr lang="en-US" altLang="zh-CN" sz="2400" dirty="0">
              <a:solidFill>
                <a:srgbClr val="3E73D2"/>
              </a:solidFill>
              <a:latin typeface="方正正中黑简体" panose="02000500000000000000" pitchFamily="2" charset="-122"/>
              <a:ea typeface="方正正中黑简体" panose="02000500000000000000" pitchFamily="2" charset="-122"/>
            </a:endParaRPr>
          </a:p>
          <a:p>
            <a:pPr>
              <a:lnSpc>
                <a:spcPct val="120000"/>
              </a:lnSpc>
            </a:pPr>
            <a:r>
              <a:rPr lang="zh-CN" altLang="en-US" sz="2400" dirty="0">
                <a:solidFill>
                  <a:srgbClr val="3E73D2"/>
                </a:solidFill>
                <a:latin typeface="方正正中黑简体" panose="02000500000000000000" pitchFamily="2" charset="-122"/>
                <a:ea typeface="方正正中黑简体" panose="02000500000000000000" pitchFamily="2" charset="-122"/>
              </a:rPr>
              <a:t>青年科技人才、卓越工程师、大国工匠、高技能人才！</a:t>
            </a:r>
            <a:endParaRPr lang="zh-CN" altLang="en-US" sz="2400" dirty="0">
              <a:solidFill>
                <a:srgbClr val="3E73D2"/>
              </a:solidFill>
              <a:latin typeface="方正正中黑简体" panose="02000500000000000000" pitchFamily="2" charset="-122"/>
              <a:ea typeface="方正正中黑简体" panose="02000500000000000000"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主题名称及内涵解析</a:t>
            </a:r>
            <a:endParaRPr lang="zh-CN" altLang="en-US"/>
          </a:p>
        </p:txBody>
      </p:sp>
      <p:sp>
        <p:nvSpPr>
          <p:cNvPr id="3" name="内容占位符 2"/>
          <p:cNvSpPr>
            <a:spLocks noGrp="1"/>
          </p:cNvSpPr>
          <p:nvPr>
            <p:ph idx="1"/>
          </p:nvPr>
        </p:nvSpPr>
        <p:spPr/>
        <p:txBody>
          <a:bodyPr/>
          <a:lstStyle/>
          <a:p>
            <a:r>
              <a:rPr lang="zh-CN" altLang="en-US"/>
              <a:t>主题名称：二进制程序函数漏洞同源性判别系统</a:t>
            </a:r>
            <a:endParaRPr lang="zh-CN" altLang="en-US"/>
          </a:p>
          <a:p>
            <a:r>
              <a:rPr lang="zh-CN" altLang="en-US"/>
              <a:t>内涵解析：</a:t>
            </a:r>
            <a:endParaRPr lang="zh-CN" altLang="en-US"/>
          </a:p>
          <a:p>
            <a:pPr marL="800100" lvl="1" indent="-342900">
              <a:buFont typeface="Arial" panose="020B0604020202020204" pitchFamily="34" charset="0"/>
              <a:buChar char="•"/>
            </a:pPr>
            <a:r>
              <a:rPr lang="zh-CN" altLang="en-US" sz="2400">
                <a:solidFill>
                  <a:schemeClr val="tx1"/>
                </a:solidFill>
              </a:rPr>
              <a:t>核心技术：将二进制函数转换为控制流图，提取生成属性控制流图高维特征向量，最后通过向量</a:t>
            </a:r>
            <a:r>
              <a:rPr lang="zh-CN" altLang="en-US" sz="2400">
                <a:solidFill>
                  <a:schemeClr val="tx1"/>
                </a:solidFill>
              </a:rPr>
              <a:t>计算进行同源性</a:t>
            </a:r>
            <a:r>
              <a:rPr lang="zh-CN" altLang="en-US" sz="2400">
                <a:solidFill>
                  <a:schemeClr val="tx1"/>
                </a:solidFill>
              </a:rPr>
              <a:t>判别，判断是否为漏洞函数</a:t>
            </a:r>
            <a:r>
              <a:rPr lang="zh-CN" altLang="en-US" sz="2400">
                <a:solidFill>
                  <a:schemeClr val="tx1"/>
                </a:solidFill>
              </a:rPr>
              <a:t>。</a:t>
            </a:r>
            <a:endParaRPr lang="zh-CN" altLang="en-US" sz="2400">
              <a:solidFill>
                <a:schemeClr val="tx1"/>
              </a:solidFill>
            </a:endParaRPr>
          </a:p>
          <a:p>
            <a:pPr marL="800100" lvl="1" indent="-342900">
              <a:buFont typeface="Arial" panose="020B0604020202020204" pitchFamily="34" charset="0"/>
              <a:buChar char="•"/>
            </a:pPr>
            <a:r>
              <a:rPr lang="zh-CN" altLang="en-US" sz="2400">
                <a:solidFill>
                  <a:schemeClr val="tx1"/>
                </a:solidFill>
              </a:rPr>
              <a:t>核心目标：系统应有效完成漏洞同源性判别任务，</a:t>
            </a:r>
            <a:r>
              <a:rPr lang="zh-CN" altLang="en-US" sz="2400">
                <a:solidFill>
                  <a:schemeClr val="tx1"/>
                </a:solidFill>
              </a:rPr>
              <a:t>对不同大小的文件均具有良好的处理能力，</a:t>
            </a:r>
            <a:r>
              <a:rPr lang="zh-CN" altLang="en-US" sz="2400">
                <a:solidFill>
                  <a:schemeClr val="tx1"/>
                </a:solidFill>
              </a:rPr>
              <a:t>并具有良好的兼容性和并发性。</a:t>
            </a:r>
            <a:endParaRPr lang="zh-CN" altLang="en-US" sz="2400">
              <a:solidFill>
                <a:schemeClr val="tx1"/>
              </a:solidFill>
            </a:endParaRPr>
          </a:p>
          <a:p>
            <a:pPr marL="800100" lvl="1" indent="-342900">
              <a:buFont typeface="Arial" panose="020B0604020202020204" pitchFamily="34" charset="0"/>
              <a:buChar char="•"/>
            </a:pPr>
            <a:endParaRPr lang="en-US" altLang="zh-CN" sz="240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主题研究与主要成果</a:t>
            </a:r>
            <a:endParaRPr lang="zh-CN" altLang="en-US"/>
          </a:p>
        </p:txBody>
      </p:sp>
      <p:sp>
        <p:nvSpPr>
          <p:cNvPr id="3" name="内容占位符 2"/>
          <p:cNvSpPr>
            <a:spLocks noGrp="1"/>
          </p:cNvSpPr>
          <p:nvPr>
            <p:ph idx="1"/>
          </p:nvPr>
        </p:nvSpPr>
        <p:spPr/>
        <p:txBody>
          <a:bodyPr/>
          <a:lstStyle/>
          <a:p>
            <a:pPr marL="457200" lvl="1" indent="0">
              <a:buFont typeface="Arial" panose="020B0604020202020204" pitchFamily="34" charset="0"/>
              <a:buNone/>
            </a:pPr>
            <a:r>
              <a:rPr lang="zh-CN" altLang="en-US" sz="2400" b="1"/>
              <a:t>关键功能模块实现</a:t>
            </a:r>
            <a:endParaRPr lang="zh-CN" altLang="en-US" sz="2400"/>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endParaRPr lang="zh-CN" altLang="en-US"/>
          </a:p>
          <a:p>
            <a:pPr marL="457200" lvl="1" indent="457200">
              <a:buFont typeface="Arial" panose="020B0604020202020204" pitchFamily="34" charset="0"/>
              <a:buNone/>
            </a:pPr>
            <a:r>
              <a:rPr lang="en-US" altLang="zh-CN" sz="2400"/>
              <a:t>1.</a:t>
            </a:r>
            <a:r>
              <a:rPr sz="2400"/>
              <a:t>文件上传模块</a:t>
            </a:r>
            <a:endParaRPr sz="2400"/>
          </a:p>
          <a:p>
            <a:pPr marL="914400" lvl="2" indent="0">
              <a:buFont typeface="Arial" panose="020B0604020202020204" pitchFamily="34" charset="0"/>
              <a:buNone/>
            </a:pPr>
            <a:r>
              <a:rPr lang="zh-CN" altLang="en-US" sz="2400">
                <a:solidFill>
                  <a:schemeClr val="tx1"/>
                </a:solidFill>
              </a:rPr>
              <a:t>利用</a:t>
            </a:r>
            <a:r>
              <a:rPr lang="en-US" altLang="zh-CN" sz="2400">
                <a:solidFill>
                  <a:schemeClr val="tx1"/>
                </a:solidFill>
              </a:rPr>
              <a:t>Python</a:t>
            </a:r>
            <a:r>
              <a:rPr lang="zh-CN" altLang="en-US" sz="2400">
                <a:solidFill>
                  <a:schemeClr val="tx1"/>
                </a:solidFill>
              </a:rPr>
              <a:t>中</a:t>
            </a:r>
            <a:r>
              <a:rPr lang="en-US" altLang="zh-CN" sz="2400">
                <a:solidFill>
                  <a:schemeClr val="tx1"/>
                </a:solidFill>
              </a:rPr>
              <a:t>libmagic</a:t>
            </a:r>
            <a:r>
              <a:rPr lang="zh-CN" altLang="en-US" sz="2400">
                <a:solidFill>
                  <a:schemeClr val="tx1"/>
                </a:solidFill>
              </a:rPr>
              <a:t>库的</a:t>
            </a:r>
            <a:r>
              <a:rPr lang="en-US" altLang="zh-CN" sz="2400">
                <a:solidFill>
                  <a:schemeClr val="tx1"/>
                </a:solidFill>
              </a:rPr>
              <a:t>magic</a:t>
            </a:r>
            <a:r>
              <a:rPr lang="zh-CN" altLang="en-US" sz="2400">
                <a:solidFill>
                  <a:schemeClr val="tx1"/>
                </a:solidFill>
              </a:rPr>
              <a:t>模块</a:t>
            </a:r>
            <a:endParaRPr lang="zh-CN" altLang="en-US" sz="2400">
              <a:solidFill>
                <a:schemeClr val="tx1"/>
              </a:solidFill>
            </a:endParaRPr>
          </a:p>
        </p:txBody>
      </p:sp>
      <p:sp>
        <p:nvSpPr>
          <p:cNvPr id="4" name="矩形 3"/>
          <p:cNvSpPr/>
          <p:nvPr/>
        </p:nvSpPr>
        <p:spPr>
          <a:xfrm>
            <a:off x="1227455" y="1844675"/>
            <a:ext cx="1838325" cy="749935"/>
          </a:xfrm>
          <a:prstGeom prst="rect">
            <a:avLst/>
          </a:prstGeom>
          <a:solidFill>
            <a:srgbClr val="3468C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文件上传模块</a:t>
            </a:r>
            <a:endParaRPr lang="zh-CN" altLang="en-US"/>
          </a:p>
        </p:txBody>
      </p:sp>
      <p:sp>
        <p:nvSpPr>
          <p:cNvPr id="5" name="矩形 4"/>
          <p:cNvSpPr/>
          <p:nvPr/>
        </p:nvSpPr>
        <p:spPr>
          <a:xfrm>
            <a:off x="9136380" y="1844675"/>
            <a:ext cx="1838325" cy="749935"/>
          </a:xfrm>
          <a:prstGeom prst="rect">
            <a:avLst/>
          </a:prstGeom>
          <a:solidFill>
            <a:srgbClr val="3468C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可视化展示模块</a:t>
            </a:r>
            <a:endParaRPr lang="zh-CN" altLang="en-US"/>
          </a:p>
        </p:txBody>
      </p:sp>
      <p:sp>
        <p:nvSpPr>
          <p:cNvPr id="6" name="矩形 5"/>
          <p:cNvSpPr/>
          <p:nvPr/>
        </p:nvSpPr>
        <p:spPr>
          <a:xfrm>
            <a:off x="3863975" y="1844675"/>
            <a:ext cx="1838325" cy="749935"/>
          </a:xfrm>
          <a:prstGeom prst="rect">
            <a:avLst/>
          </a:prstGeom>
          <a:solidFill>
            <a:srgbClr val="3468C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漏洞同源性判别模块</a:t>
            </a:r>
            <a:endParaRPr lang="zh-CN" altLang="en-US"/>
          </a:p>
        </p:txBody>
      </p:sp>
      <p:sp>
        <p:nvSpPr>
          <p:cNvPr id="7" name="矩形 6"/>
          <p:cNvSpPr/>
          <p:nvPr/>
        </p:nvSpPr>
        <p:spPr>
          <a:xfrm>
            <a:off x="6499860" y="1844675"/>
            <a:ext cx="1838325" cy="749935"/>
          </a:xfrm>
          <a:prstGeom prst="rect">
            <a:avLst/>
          </a:prstGeom>
          <a:solidFill>
            <a:srgbClr val="3468C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数据存储</a:t>
            </a:r>
            <a:r>
              <a:rPr lang="zh-CN" altLang="en-US"/>
              <a:t>模块</a:t>
            </a:r>
            <a:endParaRPr lang="zh-CN" altLang="en-US"/>
          </a:p>
        </p:txBody>
      </p:sp>
      <p:cxnSp>
        <p:nvCxnSpPr>
          <p:cNvPr id="8" name="直接箭头连接符 7"/>
          <p:cNvCxnSpPr>
            <a:stCxn id="4" idx="3"/>
            <a:endCxn id="6" idx="1"/>
          </p:cNvCxnSpPr>
          <p:nvPr/>
        </p:nvCxnSpPr>
        <p:spPr>
          <a:xfrm>
            <a:off x="3065780" y="2219960"/>
            <a:ext cx="798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5701665" y="2219960"/>
            <a:ext cx="798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8328025" y="2219960"/>
            <a:ext cx="79819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1"/>
          <a:stretch>
            <a:fillRect/>
          </a:stretch>
        </p:blipFill>
        <p:spPr>
          <a:xfrm>
            <a:off x="6972300" y="2767330"/>
            <a:ext cx="4002405" cy="40754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主题研究与主要成果</a:t>
            </a:r>
            <a:endParaRPr lang="zh-CN" altLang="en-US"/>
          </a:p>
        </p:txBody>
      </p:sp>
      <p:sp>
        <p:nvSpPr>
          <p:cNvPr id="3" name="内容占位符 2"/>
          <p:cNvSpPr>
            <a:spLocks noGrp="1"/>
          </p:cNvSpPr>
          <p:nvPr>
            <p:ph idx="1"/>
          </p:nvPr>
        </p:nvSpPr>
        <p:spPr/>
        <p:txBody>
          <a:bodyPr/>
          <a:lstStyle/>
          <a:p>
            <a:pPr marL="0" indent="457200">
              <a:buFont typeface="Arial" panose="020B0604020202020204" pitchFamily="34" charset="0"/>
              <a:buNone/>
            </a:pPr>
            <a:r>
              <a:rPr lang="en-US" altLang="zh-CN" sz="2400">
                <a:solidFill>
                  <a:schemeClr val="tx1"/>
                </a:solidFill>
              </a:rPr>
              <a:t>2.</a:t>
            </a:r>
            <a:r>
              <a:rPr lang="zh-CN" altLang="en-US" sz="2400">
                <a:solidFill>
                  <a:schemeClr val="tx1"/>
                </a:solidFill>
              </a:rPr>
              <a:t>漏洞同源性判别模块</a:t>
            </a:r>
            <a:endParaRPr lang="zh-CN" altLang="en-US" sz="2400">
              <a:solidFill>
                <a:schemeClr val="tx1"/>
              </a:solidFill>
            </a:endParaRPr>
          </a:p>
          <a:p>
            <a:pPr marL="1257300" lvl="2" indent="-342900">
              <a:buFont typeface="Arial" panose="020B0604020202020204" pitchFamily="34" charset="0"/>
              <a:buChar char="•"/>
            </a:pPr>
            <a:r>
              <a:rPr lang="zh-CN" altLang="en-US" sz="2000">
                <a:solidFill>
                  <a:schemeClr val="tx1"/>
                </a:solidFill>
              </a:rPr>
              <a:t>步骤一：函数特征提取</a:t>
            </a:r>
            <a:endParaRPr lang="zh-CN" altLang="en-US" sz="2000">
              <a:solidFill>
                <a:schemeClr val="tx1"/>
              </a:solidFill>
            </a:endParaRPr>
          </a:p>
          <a:p>
            <a:pPr marL="914400" lvl="2" indent="457200">
              <a:buFont typeface="Arial" panose="020B0604020202020204" pitchFamily="34" charset="0"/>
              <a:buNone/>
            </a:pPr>
            <a:r>
              <a:rPr sz="2000">
                <a:sym typeface="+mn-ea"/>
              </a:rPr>
              <a:t>利用</a:t>
            </a:r>
            <a:r>
              <a:rPr lang="en-US" altLang="zh-CN" sz="2000">
                <a:sym typeface="+mn-ea"/>
              </a:rPr>
              <a:t>IDA pro</a:t>
            </a:r>
            <a:r>
              <a:rPr lang="zh-CN" altLang="en-US" sz="2000">
                <a:sym typeface="+mn-ea"/>
              </a:rPr>
              <a:t>工具和</a:t>
            </a:r>
            <a:r>
              <a:rPr lang="en-US" altLang="zh-CN" sz="2000">
                <a:sym typeface="+mn-ea"/>
              </a:rPr>
              <a:t>IDA python</a:t>
            </a:r>
            <a:r>
              <a:rPr lang="zh-CN" altLang="en-US" sz="2000">
                <a:sym typeface="+mn-ea"/>
              </a:rPr>
              <a:t>接口</a:t>
            </a:r>
            <a:r>
              <a:rPr sz="2000">
                <a:sym typeface="+mn-ea"/>
              </a:rPr>
              <a:t>对二进制程序进行反汇编，提取</a:t>
            </a:r>
            <a:r>
              <a:rPr lang="zh-CN" altLang="en-US" sz="2000">
                <a:sym typeface="+mn-ea"/>
              </a:rPr>
              <a:t>节点属性</a:t>
            </a:r>
            <a:r>
              <a:rPr sz="2000">
                <a:sym typeface="+mn-ea"/>
              </a:rPr>
              <a:t>，输出</a:t>
            </a:r>
            <a:r>
              <a:rPr lang="zh-CN" altLang="en-US" sz="2000">
                <a:sym typeface="+mn-ea"/>
              </a:rPr>
              <a:t>属性控制流图</a:t>
            </a:r>
            <a:r>
              <a:rPr sz="2000">
                <a:sym typeface="+mn-ea"/>
              </a:rPr>
              <a:t>。</a:t>
            </a:r>
            <a:endParaRPr lang="zh-CN" altLang="en-US" sz="2000">
              <a:solidFill>
                <a:schemeClr val="tx1"/>
              </a:solidFill>
            </a:endParaRPr>
          </a:p>
          <a:p>
            <a:pPr marL="1257300" lvl="2" indent="-342900">
              <a:buFont typeface="Arial" panose="020B0604020202020204" pitchFamily="34" charset="0"/>
              <a:buChar char="•"/>
            </a:pPr>
            <a:r>
              <a:rPr lang="zh-CN" altLang="en-US" sz="2000">
                <a:solidFill>
                  <a:schemeClr val="tx1"/>
                </a:solidFill>
              </a:rPr>
              <a:t>步骤二：图嵌入生成</a:t>
            </a:r>
            <a:endParaRPr lang="zh-CN" altLang="en-US" sz="2000">
              <a:solidFill>
                <a:schemeClr val="tx1"/>
              </a:solidFill>
            </a:endParaRPr>
          </a:p>
          <a:p>
            <a:pPr marL="914400" lvl="2" indent="457200">
              <a:buFont typeface="Arial" panose="020B0604020202020204" pitchFamily="34" charset="0"/>
              <a:buNone/>
            </a:pPr>
            <a:r>
              <a:rPr lang="zh-CN" altLang="en-US" sz="2000">
                <a:solidFill>
                  <a:schemeClr val="tx1"/>
                </a:solidFill>
              </a:rPr>
              <a:t>对属性控制流图进行节点嵌入生成和节点序列特征提取，输出属性控制流程图高维特征向量。</a:t>
            </a:r>
            <a:endParaRPr lang="zh-CN" altLang="en-US" sz="2000">
              <a:solidFill>
                <a:schemeClr val="tx1"/>
              </a:solidFill>
            </a:endParaRPr>
          </a:p>
          <a:p>
            <a:pPr marL="1257300" lvl="2" indent="-342900">
              <a:buFont typeface="Arial" panose="020B0604020202020204" pitchFamily="34" charset="0"/>
              <a:buChar char="•"/>
            </a:pPr>
            <a:r>
              <a:rPr lang="zh-CN" altLang="en-US" sz="2000">
                <a:solidFill>
                  <a:schemeClr val="tx1"/>
                </a:solidFill>
              </a:rPr>
              <a:t>步骤三：同源性判别</a:t>
            </a:r>
            <a:endParaRPr lang="zh-CN" altLang="en-US" sz="2000">
              <a:solidFill>
                <a:schemeClr val="tx1"/>
              </a:solidFill>
            </a:endParaRPr>
          </a:p>
          <a:p>
            <a:pPr marL="914400" lvl="2" indent="457200">
              <a:buFont typeface="Arial" panose="020B0604020202020204" pitchFamily="34" charset="0"/>
              <a:buNone/>
            </a:pPr>
            <a:r>
              <a:rPr lang="zh-CN" altLang="en-US" sz="2000">
                <a:solidFill>
                  <a:schemeClr val="tx1"/>
                </a:solidFill>
              </a:rPr>
              <a:t>通过将</a:t>
            </a:r>
            <a:r>
              <a:rPr lang="zh-CN" altLang="en-US" sz="2000">
                <a:solidFill>
                  <a:schemeClr val="tx1"/>
                </a:solidFill>
              </a:rPr>
              <a:t>向量与漏洞函数库中的漏洞函数作计算分析，完成</a:t>
            </a:r>
            <a:r>
              <a:rPr lang="zh-CN" altLang="en-US" sz="2000">
                <a:solidFill>
                  <a:schemeClr val="tx1"/>
                </a:solidFill>
              </a:rPr>
              <a:t>同源性判别。</a:t>
            </a:r>
            <a:endParaRPr lang="zh-CN" altLang="en-US" sz="2000">
              <a:solidFill>
                <a:schemeClr val="tx1"/>
              </a:solidFill>
            </a:endParaRPr>
          </a:p>
          <a:p>
            <a:pPr marL="457200" lvl="1" indent="0">
              <a:buFont typeface="Arial" panose="020B0604020202020204" pitchFamily="34" charset="0"/>
              <a:buNone/>
            </a:pPr>
            <a:r>
              <a:rPr lang="en-US" altLang="zh-CN" sz="2400">
                <a:solidFill>
                  <a:schemeClr val="tx1"/>
                </a:solidFill>
              </a:rPr>
              <a:t>3.</a:t>
            </a:r>
            <a:r>
              <a:rPr sz="2400">
                <a:solidFill>
                  <a:schemeClr val="tx1"/>
                </a:solidFill>
              </a:rPr>
              <a:t>数据存储</a:t>
            </a:r>
            <a:r>
              <a:rPr sz="2400">
                <a:solidFill>
                  <a:schemeClr val="tx1"/>
                </a:solidFill>
              </a:rPr>
              <a:t>模块</a:t>
            </a:r>
            <a:endParaRPr sz="2400">
              <a:solidFill>
                <a:schemeClr val="tx1"/>
              </a:solidFill>
            </a:endParaRPr>
          </a:p>
          <a:p>
            <a:pPr marL="457200" lvl="1" indent="457200">
              <a:buFont typeface="Arial" panose="020B0604020202020204" pitchFamily="34" charset="0"/>
              <a:buNone/>
            </a:pPr>
            <a:r>
              <a:rPr lang="zh-CN" altLang="en-US" sz="2000">
                <a:solidFill>
                  <a:schemeClr val="tx1"/>
                </a:solidFill>
              </a:rPr>
              <a:t>存储已上传的</a:t>
            </a:r>
            <a:r>
              <a:rPr lang="en-US" altLang="zh-CN" sz="2000">
                <a:solidFill>
                  <a:schemeClr val="tx1"/>
                </a:solidFill>
              </a:rPr>
              <a:t>ELF</a:t>
            </a:r>
            <a:r>
              <a:rPr lang="zh-CN" altLang="en-US" sz="2000">
                <a:solidFill>
                  <a:schemeClr val="tx1"/>
                </a:solidFill>
              </a:rPr>
              <a:t>文件并记录已分析</a:t>
            </a:r>
            <a:r>
              <a:rPr lang="en-US" altLang="zh-CN" sz="2000">
                <a:solidFill>
                  <a:schemeClr val="tx1"/>
                </a:solidFill>
              </a:rPr>
              <a:t>ELF</a:t>
            </a:r>
            <a:r>
              <a:rPr lang="zh-CN" altLang="en-US" sz="2000">
                <a:solidFill>
                  <a:schemeClr val="tx1"/>
                </a:solidFill>
              </a:rPr>
              <a:t>文件的相关信息</a:t>
            </a:r>
            <a:r>
              <a:rPr sz="2000">
                <a:solidFill>
                  <a:schemeClr val="tx1"/>
                </a:solidFill>
              </a:rPr>
              <a:t>，</a:t>
            </a:r>
            <a:r>
              <a:rPr lang="zh-CN" altLang="en-US" sz="2000">
                <a:solidFill>
                  <a:schemeClr val="tx1"/>
                </a:solidFill>
              </a:rPr>
              <a:t>系统将用户上传的</a:t>
            </a:r>
            <a:r>
              <a:rPr lang="en-US" altLang="zh-CN" sz="2000">
                <a:solidFill>
                  <a:schemeClr val="tx1"/>
                </a:solidFill>
              </a:rPr>
              <a:t>ELF</a:t>
            </a:r>
            <a:r>
              <a:rPr lang="zh-CN" altLang="en-US" sz="2000">
                <a:solidFill>
                  <a:schemeClr val="tx1"/>
                </a:solidFill>
              </a:rPr>
              <a:t>文件保存在服务器中，计算文件的</a:t>
            </a:r>
            <a:r>
              <a:rPr lang="en-US" altLang="zh-CN" sz="2000">
                <a:solidFill>
                  <a:schemeClr val="tx1"/>
                </a:solidFill>
              </a:rPr>
              <a:t>SHA-256</a:t>
            </a:r>
            <a:r>
              <a:rPr lang="zh-CN" altLang="en-US" sz="2000">
                <a:solidFill>
                  <a:schemeClr val="tx1"/>
                </a:solidFill>
              </a:rPr>
              <a:t>值作为文件的唯一标识，采用</a:t>
            </a:r>
            <a:r>
              <a:rPr lang="en-US" altLang="zh-CN" sz="2000">
                <a:solidFill>
                  <a:schemeClr val="tx1"/>
                </a:solidFill>
              </a:rPr>
              <a:t>MySQL</a:t>
            </a:r>
            <a:r>
              <a:rPr lang="zh-CN" altLang="en-US" sz="2000">
                <a:solidFill>
                  <a:schemeClr val="tx1"/>
                </a:solidFill>
              </a:rPr>
              <a:t>数据库记录所有用户上传过的历史</a:t>
            </a:r>
            <a:r>
              <a:rPr lang="en-US" altLang="zh-CN" sz="2000">
                <a:solidFill>
                  <a:schemeClr val="tx1"/>
                </a:solidFill>
              </a:rPr>
              <a:t>ELF</a:t>
            </a:r>
            <a:r>
              <a:rPr lang="zh-CN" altLang="en-US" sz="2000">
                <a:solidFill>
                  <a:schemeClr val="tx1"/>
                </a:solidFill>
              </a:rPr>
              <a:t>文件信息</a:t>
            </a:r>
            <a:endParaRPr lang="zh-CN" altLang="en-US" sz="200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主题研究与主要成果</a:t>
            </a:r>
            <a:endParaRPr lang="zh-CN" altLang="en-US"/>
          </a:p>
        </p:txBody>
      </p:sp>
      <p:pic>
        <p:nvPicPr>
          <p:cNvPr id="4" name="内容占位符 3"/>
          <p:cNvPicPr>
            <a:picLocks noChangeAspect="1"/>
          </p:cNvPicPr>
          <p:nvPr>
            <p:ph idx="1"/>
          </p:nvPr>
        </p:nvPicPr>
        <p:blipFill>
          <a:blip r:embed="rId1"/>
          <a:stretch>
            <a:fillRect/>
          </a:stretch>
        </p:blipFill>
        <p:spPr>
          <a:xfrm>
            <a:off x="1933575" y="2065020"/>
            <a:ext cx="8324850" cy="4389120"/>
          </a:xfrm>
          <a:prstGeom prst="rect">
            <a:avLst/>
          </a:prstGeom>
        </p:spPr>
      </p:pic>
      <p:sp>
        <p:nvSpPr>
          <p:cNvPr id="11" name="内容占位符 2"/>
          <p:cNvSpPr>
            <a:spLocks noGrp="1"/>
          </p:cNvSpPr>
          <p:nvPr/>
        </p:nvSpPr>
        <p:spPr>
          <a:xfrm>
            <a:off x="623392" y="1052736"/>
            <a:ext cx="10972800" cy="5040560"/>
          </a:xfrm>
          <a:prstGeom prst="rect">
            <a:avLst/>
          </a:prstGeom>
        </p:spPr>
        <p:txBody>
          <a:bodyPr/>
          <a:lstStyle>
            <a:lvl1pPr marL="342900" indent="-342900" algn="l" defTabSz="914400" rtl="0" eaLnBrk="1" latinLnBrk="0" hangingPunct="1">
              <a:lnSpc>
                <a:spcPct val="130000"/>
              </a:lnSpc>
              <a:spcBef>
                <a:spcPts val="0"/>
              </a:spcBef>
              <a:buFont typeface="Arial" panose="020B0604020202020204" pitchFamily="34" charset="0"/>
              <a:buChar char="•"/>
              <a:defRPr sz="2400" kern="1200">
                <a:solidFill>
                  <a:schemeClr val="tx1"/>
                </a:solidFill>
                <a:latin typeface="方正正中黑简体" panose="02000500000000000000" pitchFamily="2" charset="-122"/>
                <a:ea typeface="方正正中黑简体" panose="02000500000000000000" pitchFamily="2" charset="-122"/>
                <a:cs typeface="+mn-cs"/>
              </a:defRPr>
            </a:lvl1pPr>
            <a:lvl2pPr marL="742950" indent="-285750" algn="l" defTabSz="914400" rtl="0" eaLnBrk="1" latinLnBrk="0" hangingPunct="1">
              <a:lnSpc>
                <a:spcPct val="130000"/>
              </a:lnSpc>
              <a:spcBef>
                <a:spcPts val="0"/>
              </a:spcBef>
              <a:buFont typeface="Arial" panose="020B0604020202020204" pitchFamily="34" charset="0"/>
              <a:buChar char="–"/>
              <a:defRPr lang="zh-CN" altLang="en-US" sz="2200" kern="1200" dirty="0" smtClean="0">
                <a:solidFill>
                  <a:schemeClr val="tx1"/>
                </a:solidFill>
                <a:latin typeface="方正正中黑简体" panose="02000500000000000000" pitchFamily="2" charset="-122"/>
                <a:ea typeface="方正正中黑简体" panose="02000500000000000000" pitchFamily="2" charset="-122"/>
                <a:cs typeface="+mn-cs"/>
              </a:defRPr>
            </a:lvl2pPr>
            <a:lvl3pPr marL="1143000" indent="-228600" algn="l" defTabSz="914400" rtl="0" eaLnBrk="1" latinLnBrk="0" hangingPunct="1">
              <a:lnSpc>
                <a:spcPct val="130000"/>
              </a:lnSpc>
              <a:spcBef>
                <a:spcPts val="0"/>
              </a:spcBef>
              <a:buFont typeface="Arial" panose="020B0604020202020204" pitchFamily="34" charset="0"/>
              <a:buChar char="•"/>
              <a:defRPr lang="zh-CN" altLang="en-US" sz="2100" kern="1200" dirty="0" smtClean="0">
                <a:solidFill>
                  <a:schemeClr val="tx1"/>
                </a:solidFill>
                <a:latin typeface="方正正中黑简体" panose="02000500000000000000" pitchFamily="2" charset="-122"/>
                <a:ea typeface="方正正中黑简体" panose="02000500000000000000" pitchFamily="2" charset="-122"/>
                <a:cs typeface="+mn-cs"/>
              </a:defRPr>
            </a:lvl3pPr>
            <a:lvl4pPr marL="1600200" indent="-228600" algn="l" defTabSz="914400" rtl="0" eaLnBrk="1" latinLnBrk="0" hangingPunct="1">
              <a:lnSpc>
                <a:spcPct val="130000"/>
              </a:lnSpc>
              <a:spcBef>
                <a:spcPts val="0"/>
              </a:spcBef>
              <a:buFont typeface="Arial" panose="020B0604020202020204" pitchFamily="34" charset="0"/>
              <a:buChar char="–"/>
              <a:defRPr lang="zh-CN" altLang="en-US" sz="2000" kern="1200" dirty="0" smtClean="0">
                <a:solidFill>
                  <a:schemeClr val="tx1"/>
                </a:solidFill>
                <a:latin typeface="方正正中黑简体" panose="02000500000000000000" pitchFamily="2" charset="-122"/>
                <a:ea typeface="方正正中黑简体" panose="02000500000000000000" pitchFamily="2" charset="-122"/>
                <a:cs typeface="+mn-cs"/>
              </a:defRPr>
            </a:lvl4pPr>
            <a:lvl5pPr marL="2057400" indent="-228600" algn="l" defTabSz="914400" rtl="0" eaLnBrk="1" latinLnBrk="0" hangingPunct="1">
              <a:lnSpc>
                <a:spcPct val="130000"/>
              </a:lnSpc>
              <a:spcBef>
                <a:spcPts val="0"/>
              </a:spcBef>
              <a:buFont typeface="Arial" panose="020B0604020202020204" pitchFamily="34" charset="0"/>
              <a:buChar char="»"/>
              <a:defRPr lang="zh-CN" altLang="en-US" sz="1900" kern="1200" dirty="0">
                <a:solidFill>
                  <a:schemeClr val="tx1"/>
                </a:solidFill>
                <a:latin typeface="方正正中黑简体" panose="02000500000000000000" pitchFamily="2" charset="-122"/>
                <a:ea typeface="方正正中黑简体" panose="02000500000000000000"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lvl="1" indent="0">
              <a:buFont typeface="Arial" panose="020B0604020202020204" pitchFamily="34" charset="0"/>
              <a:buNone/>
            </a:pPr>
            <a:r>
              <a:rPr lang="en-US" altLang="zh-CN" sz="2400"/>
              <a:t>4.</a:t>
            </a:r>
            <a:r>
              <a:rPr sz="2400"/>
              <a:t>可视化</a:t>
            </a:r>
            <a:r>
              <a:rPr sz="2400"/>
              <a:t>展示模块</a:t>
            </a:r>
            <a:endParaRPr sz="2400"/>
          </a:p>
          <a:p>
            <a:pPr marL="457200" lvl="1" indent="457200">
              <a:buFont typeface="Arial" panose="020B0604020202020204" pitchFamily="34" charset="0"/>
              <a:buNone/>
            </a:pPr>
            <a:r>
              <a:rPr lang="zh-CN" altLang="en-US" sz="2000">
                <a:solidFill>
                  <a:schemeClr val="tx1"/>
                </a:solidFill>
              </a:rPr>
              <a:t>提供二进制程序函数漏洞同源性判别分析结果以及历史查询功能</a:t>
            </a:r>
            <a:endParaRPr lang="zh-CN" altLang="en-US" sz="200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主题研究与主要成果</a:t>
            </a:r>
            <a:endParaRPr lang="zh-CN" altLang="en-US"/>
          </a:p>
        </p:txBody>
      </p:sp>
      <p:sp>
        <p:nvSpPr>
          <p:cNvPr id="3" name="内容占位符 2"/>
          <p:cNvSpPr>
            <a:spLocks noGrp="1"/>
          </p:cNvSpPr>
          <p:nvPr>
            <p:ph idx="1"/>
          </p:nvPr>
        </p:nvSpPr>
        <p:spPr/>
        <p:txBody>
          <a:bodyPr/>
          <a:lstStyle/>
          <a:p>
            <a:pPr marL="0" indent="457200">
              <a:buNone/>
            </a:pPr>
            <a:r>
              <a:rPr lang="zh-CN" altLang="en-US" b="1">
                <a:sym typeface="+mn-ea"/>
              </a:rPr>
              <a:t>系统</a:t>
            </a:r>
            <a:r>
              <a:rPr lang="zh-CN" altLang="en-US" b="1">
                <a:sym typeface="+mn-ea"/>
              </a:rPr>
              <a:t>架构设计</a:t>
            </a:r>
            <a:endParaRPr lang="zh-CN" altLang="en-US" b="1">
              <a:sym typeface="+mn-ea"/>
            </a:endParaRPr>
          </a:p>
          <a:p>
            <a:pPr lvl="0">
              <a:buFont typeface="Arial" panose="020B0604020202020204" pitchFamily="34" charset="0"/>
              <a:buChar char="•"/>
            </a:pPr>
            <a:r>
              <a:rPr lang="en-US" altLang="zh-CN">
                <a:solidFill>
                  <a:schemeClr val="tx1"/>
                </a:solidFill>
                <a:sym typeface="+mn-ea"/>
              </a:rPr>
              <a:t>1.</a:t>
            </a:r>
            <a:r>
              <a:rPr lang="zh-CN" altLang="en-US">
                <a:solidFill>
                  <a:schemeClr val="tx1"/>
                </a:solidFill>
                <a:sym typeface="+mn-ea"/>
              </a:rPr>
              <a:t>平台服务</a:t>
            </a:r>
            <a:endParaRPr lang="zh-CN" altLang="en-US">
              <a:solidFill>
                <a:schemeClr val="tx1"/>
              </a:solidFill>
              <a:sym typeface="+mn-ea"/>
            </a:endParaRPr>
          </a:p>
          <a:p>
            <a:pPr marL="800100" lvl="1" indent="-342900">
              <a:buFont typeface="Arial" panose="020B0604020202020204" pitchFamily="34" charset="0"/>
              <a:buChar char="•"/>
            </a:pPr>
            <a:r>
              <a:rPr lang="zh-CN" altLang="en-US" sz="2000">
                <a:solidFill>
                  <a:schemeClr val="tx1"/>
                </a:solidFill>
                <a:sym typeface="+mn-ea"/>
              </a:rPr>
              <a:t>为用户提供直观的操作界面和结果展示功能，包括</a:t>
            </a:r>
            <a:r>
              <a:rPr lang="en-US" altLang="zh-CN" sz="2000">
                <a:solidFill>
                  <a:schemeClr val="tx1"/>
                </a:solidFill>
                <a:sym typeface="+mn-ea"/>
              </a:rPr>
              <a:t>ELF</a:t>
            </a:r>
            <a:r>
              <a:rPr lang="zh-CN" altLang="en-US" sz="2000">
                <a:solidFill>
                  <a:schemeClr val="tx1"/>
                </a:solidFill>
                <a:sym typeface="+mn-ea"/>
              </a:rPr>
              <a:t>文件上传、函数漏洞同源性判别、历史查询和结果分析。</a:t>
            </a:r>
            <a:endParaRPr lang="zh-CN" altLang="en-US" sz="2000">
              <a:solidFill>
                <a:schemeClr val="tx1"/>
              </a:solidFill>
              <a:sym typeface="+mn-ea"/>
            </a:endParaRPr>
          </a:p>
          <a:p>
            <a:pPr lvl="0">
              <a:buFont typeface="Arial" panose="020B0604020202020204" pitchFamily="34" charset="0"/>
              <a:buChar char="•"/>
            </a:pPr>
            <a:r>
              <a:rPr lang="en-US" altLang="zh-CN">
                <a:solidFill>
                  <a:schemeClr val="tx1"/>
                </a:solidFill>
                <a:sym typeface="+mn-ea"/>
              </a:rPr>
              <a:t>2.</a:t>
            </a:r>
            <a:r>
              <a:rPr lang="zh-CN" altLang="en-US">
                <a:solidFill>
                  <a:schemeClr val="tx1"/>
                </a:solidFill>
                <a:sym typeface="+mn-ea"/>
              </a:rPr>
              <a:t>核心算法</a:t>
            </a:r>
            <a:endParaRPr lang="zh-CN" altLang="en-US">
              <a:solidFill>
                <a:schemeClr val="tx1"/>
              </a:solidFill>
              <a:sym typeface="+mn-ea"/>
            </a:endParaRPr>
          </a:p>
          <a:p>
            <a:pPr marL="800100" lvl="1" indent="-342900">
              <a:buFont typeface="Arial" panose="020B0604020202020204" pitchFamily="34" charset="0"/>
              <a:buChar char="•"/>
            </a:pPr>
            <a:r>
              <a:rPr lang="zh-CN" altLang="en-US" sz="2000">
                <a:solidFill>
                  <a:schemeClr val="tx1"/>
                </a:solidFill>
                <a:sym typeface="+mn-ea"/>
              </a:rPr>
              <a:t>承载从特征提取到相似度判别的完整核心算法，包括函数属性提取、图嵌入生成和同源性判别。</a:t>
            </a:r>
            <a:endParaRPr lang="zh-CN" altLang="en-US" sz="2000">
              <a:solidFill>
                <a:schemeClr val="tx1"/>
              </a:solidFill>
              <a:sym typeface="+mn-ea"/>
            </a:endParaRPr>
          </a:p>
          <a:p>
            <a:pPr lvl="0">
              <a:buFont typeface="Arial" panose="020B0604020202020204" pitchFamily="34" charset="0"/>
              <a:buChar char="•"/>
            </a:pPr>
            <a:r>
              <a:rPr lang="en-US" altLang="zh-CN">
                <a:solidFill>
                  <a:schemeClr val="tx1"/>
                </a:solidFill>
                <a:sym typeface="+mn-ea"/>
              </a:rPr>
              <a:t>3.</a:t>
            </a:r>
            <a:r>
              <a:rPr lang="zh-CN" altLang="en-US">
                <a:solidFill>
                  <a:schemeClr val="tx1"/>
                </a:solidFill>
                <a:sym typeface="+mn-ea"/>
              </a:rPr>
              <a:t>数据资源</a:t>
            </a:r>
            <a:endParaRPr lang="zh-CN" altLang="en-US">
              <a:solidFill>
                <a:schemeClr val="tx1"/>
              </a:solidFill>
              <a:sym typeface="+mn-ea"/>
            </a:endParaRPr>
          </a:p>
          <a:p>
            <a:pPr marL="800100" lvl="1" indent="-342900">
              <a:buFont typeface="Arial" panose="020B0604020202020204" pitchFamily="34" charset="0"/>
              <a:buChar char="•"/>
            </a:pPr>
            <a:r>
              <a:rPr lang="zh-CN" altLang="en-US" sz="2000">
                <a:solidFill>
                  <a:schemeClr val="tx1"/>
                </a:solidFill>
                <a:sym typeface="+mn-ea"/>
              </a:rPr>
              <a:t>存储支撑系统运行所需的各类数据，包括判别数据、漏洞数据和日志数据。</a:t>
            </a:r>
            <a:endParaRPr lang="zh-CN" altLang="en-US" sz="2000">
              <a:solidFill>
                <a:schemeClr val="tx1"/>
              </a:solidFill>
              <a:sym typeface="+mn-ea"/>
            </a:endParaRPr>
          </a:p>
          <a:p>
            <a:pPr marL="0" indent="457200">
              <a:buNone/>
            </a:pPr>
            <a:endParaRPr lang="zh-CN" altLang="en-US" sz="2000">
              <a:solidFill>
                <a:schemeClr val="tx1"/>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主题研究与主要成果</a:t>
            </a:r>
            <a:endParaRPr lang="zh-CN" altLang="en-US"/>
          </a:p>
        </p:txBody>
      </p:sp>
      <p:sp>
        <p:nvSpPr>
          <p:cNvPr id="3" name="内容占位符 2"/>
          <p:cNvSpPr>
            <a:spLocks noGrp="1"/>
          </p:cNvSpPr>
          <p:nvPr>
            <p:ph idx="1"/>
          </p:nvPr>
        </p:nvSpPr>
        <p:spPr/>
        <p:txBody>
          <a:bodyPr/>
          <a:lstStyle/>
          <a:p>
            <a:pPr marL="0" indent="457200">
              <a:buNone/>
            </a:pPr>
            <a:r>
              <a:rPr lang="zh-CN" altLang="en-US" b="1">
                <a:sym typeface="+mn-ea"/>
              </a:rPr>
              <a:t>系统功能</a:t>
            </a:r>
            <a:r>
              <a:rPr lang="zh-CN" altLang="en-US" b="1">
                <a:sym typeface="+mn-ea"/>
              </a:rPr>
              <a:t>界面展示</a:t>
            </a:r>
            <a:endParaRPr lang="zh-CN" altLang="en-US" b="1">
              <a:sym typeface="+mn-ea"/>
            </a:endParaRPr>
          </a:p>
          <a:p>
            <a:pPr lvl="0">
              <a:buFont typeface="Arial" panose="020B0604020202020204" pitchFamily="34" charset="0"/>
              <a:buChar char="•"/>
            </a:pPr>
            <a:r>
              <a:rPr lang="en-US" altLang="zh-CN">
                <a:solidFill>
                  <a:schemeClr val="tx1"/>
                </a:solidFill>
                <a:sym typeface="+mn-ea"/>
              </a:rPr>
              <a:t>1.</a:t>
            </a:r>
            <a:r>
              <a:rPr lang="zh-CN" altLang="en-US">
                <a:solidFill>
                  <a:schemeClr val="tx1"/>
                </a:solidFill>
                <a:sym typeface="+mn-ea"/>
              </a:rPr>
              <a:t>支持文件在线上传，并且对文件进行合规性检测</a:t>
            </a:r>
            <a:endParaRPr lang="zh-CN" altLang="en-US">
              <a:solidFill>
                <a:schemeClr val="tx1"/>
              </a:solidFill>
              <a:sym typeface="+mn-ea"/>
            </a:endParaRPr>
          </a:p>
          <a:p>
            <a:pPr lvl="0">
              <a:buFont typeface="Arial" panose="020B0604020202020204" pitchFamily="34" charset="0"/>
              <a:buChar char="•"/>
            </a:pPr>
            <a:r>
              <a:rPr lang="en-US" altLang="zh-CN">
                <a:solidFill>
                  <a:schemeClr val="tx1"/>
                </a:solidFill>
                <a:sym typeface="+mn-ea"/>
              </a:rPr>
              <a:t>2.</a:t>
            </a:r>
            <a:r>
              <a:rPr lang="zh-CN" altLang="en-US">
                <a:solidFill>
                  <a:schemeClr val="tx1"/>
                </a:solidFill>
                <a:sym typeface="+mn-ea"/>
              </a:rPr>
              <a:t>输出判别结果，包括</a:t>
            </a:r>
            <a:r>
              <a:rPr lang="en-US" altLang="zh-CN">
                <a:solidFill>
                  <a:schemeClr val="tx1"/>
                </a:solidFill>
                <a:sym typeface="+mn-ea"/>
              </a:rPr>
              <a:t>ID</a:t>
            </a:r>
            <a:r>
              <a:rPr lang="zh-CN" altLang="en-US">
                <a:solidFill>
                  <a:schemeClr val="tx1"/>
                </a:solidFill>
                <a:sym typeface="+mn-ea"/>
              </a:rPr>
              <a:t>、文件名称、漏洞函数名称和漏洞编号（假如</a:t>
            </a:r>
            <a:r>
              <a:rPr lang="zh-CN" altLang="en-US">
                <a:solidFill>
                  <a:schemeClr val="tx1"/>
                </a:solidFill>
                <a:sym typeface="+mn-ea"/>
              </a:rPr>
              <a:t>存在）</a:t>
            </a:r>
            <a:endParaRPr lang="zh-CN" altLang="en-US">
              <a:solidFill>
                <a:schemeClr val="tx1"/>
              </a:solidFill>
              <a:sym typeface="+mn-ea"/>
            </a:endParaRPr>
          </a:p>
          <a:p>
            <a:pPr lvl="0">
              <a:buFont typeface="Arial" panose="020B0604020202020204" pitchFamily="34" charset="0"/>
              <a:buChar char="•"/>
            </a:pPr>
            <a:r>
              <a:rPr lang="en-US" altLang="zh-CN">
                <a:solidFill>
                  <a:schemeClr val="tx1"/>
                </a:solidFill>
                <a:sym typeface="+mn-ea"/>
              </a:rPr>
              <a:t>3.</a:t>
            </a:r>
            <a:r>
              <a:rPr lang="zh-CN" altLang="en-US">
                <a:solidFill>
                  <a:schemeClr val="tx1"/>
                </a:solidFill>
                <a:sym typeface="+mn-ea"/>
              </a:rPr>
              <a:t>历史判别信息页面展示所有已成功输入的</a:t>
            </a:r>
            <a:r>
              <a:rPr lang="en-US" altLang="zh-CN">
                <a:solidFill>
                  <a:schemeClr val="tx1"/>
                </a:solidFill>
                <a:sym typeface="+mn-ea"/>
              </a:rPr>
              <a:t>ELF</a:t>
            </a:r>
            <a:r>
              <a:rPr lang="zh-CN" altLang="en-US">
                <a:solidFill>
                  <a:schemeClr val="tx1"/>
                </a:solidFill>
                <a:sym typeface="+mn-ea"/>
              </a:rPr>
              <a:t>文件判别信息</a:t>
            </a:r>
            <a:endParaRPr lang="zh-CN" altLang="en-US">
              <a:solidFill>
                <a:schemeClr val="tx1"/>
              </a:solidFill>
              <a:sym typeface="+mn-ea"/>
            </a:endParaRPr>
          </a:p>
        </p:txBody>
      </p:sp>
      <p:pic>
        <p:nvPicPr>
          <p:cNvPr id="4" name="图片 3"/>
          <p:cNvPicPr>
            <a:picLocks noChangeAspect="1"/>
          </p:cNvPicPr>
          <p:nvPr/>
        </p:nvPicPr>
        <p:blipFill>
          <a:blip r:embed="rId1"/>
          <a:stretch>
            <a:fillRect/>
          </a:stretch>
        </p:blipFill>
        <p:spPr>
          <a:xfrm>
            <a:off x="1106170" y="3115310"/>
            <a:ext cx="7488555" cy="29781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研究问题选定及论证</a:t>
            </a:r>
            <a:endParaRPr lang="zh-CN" altLang="en-US"/>
          </a:p>
        </p:txBody>
      </p:sp>
      <p:sp>
        <p:nvSpPr>
          <p:cNvPr id="3" name="内容占位符 2"/>
          <p:cNvSpPr>
            <a:spLocks noGrp="1"/>
          </p:cNvSpPr>
          <p:nvPr>
            <p:ph idx="1"/>
          </p:nvPr>
        </p:nvSpPr>
        <p:spPr/>
        <p:txBody>
          <a:bodyPr/>
          <a:lstStyle/>
          <a:p>
            <a:r>
              <a:rPr lang="zh-CN" altLang="en-US"/>
              <a:t>核心矛盾</a:t>
            </a:r>
            <a:endParaRPr lang="zh-CN" altLang="en-US"/>
          </a:p>
          <a:p>
            <a:pPr lvl="1"/>
            <a:r>
              <a:rPr lang="zh-CN" altLang="en-US"/>
              <a:t>在应用程序的开发过程中，人们可以利用开源代码和第三方资源库等构造出具有同源性的相似应用程序，这种同源性应用程序被部署在不同架构或操作系统下，能够显著提升开发效率，节省开发时间。然而，代码复用行为可能会引发持续的安全问题，若某个公开资源库中存在漏</a:t>
            </a:r>
            <a:r>
              <a:rPr lang="zh-CN" altLang="en-US"/>
              <a:t>洞，那么大量使用了该资源库或开源软件的应用程序都将面临安全威胁。</a:t>
            </a:r>
            <a:endParaRPr lang="zh-CN" altLang="en-US"/>
          </a:p>
          <a:p>
            <a:pPr lvl="1"/>
            <a:r>
              <a:rPr lang="zh-CN" altLang="en-US"/>
              <a:t>例如，</a:t>
            </a:r>
            <a:r>
              <a:rPr lang="en-US" altLang="zh-CN"/>
              <a:t>2014</a:t>
            </a:r>
            <a:r>
              <a:rPr lang="zh-CN" altLang="en-US"/>
              <a:t>年</a:t>
            </a:r>
            <a:r>
              <a:rPr lang="en-US" altLang="zh-CN"/>
              <a:t>OpenSSL</a:t>
            </a:r>
            <a:r>
              <a:rPr lang="zh-CN" altLang="en-US"/>
              <a:t>的</a:t>
            </a:r>
            <a:r>
              <a:rPr lang="en-US" altLang="zh-CN"/>
              <a:t>Heartbleed</a:t>
            </a:r>
            <a:r>
              <a:rPr lang="zh-CN" altLang="en-US"/>
              <a:t>漏洞，黑客利用该漏洞可以实时获取到很多</a:t>
            </a:r>
            <a:r>
              <a:rPr lang="en-US" altLang="zh-CN"/>
              <a:t>https</a:t>
            </a:r>
            <a:r>
              <a:rPr lang="zh-CN" altLang="en-US"/>
              <a:t>开头网址的用户登录账号和密码；同样</a:t>
            </a:r>
            <a:r>
              <a:rPr lang="en-US" altLang="zh-CN"/>
              <a:t>2014</a:t>
            </a:r>
            <a:r>
              <a:rPr lang="zh-CN" altLang="en-US"/>
              <a:t>年</a:t>
            </a:r>
            <a:r>
              <a:rPr lang="en-US" altLang="zh-CN"/>
              <a:t>Bash</a:t>
            </a:r>
            <a:r>
              <a:rPr lang="zh-CN" altLang="en-US"/>
              <a:t>命令行界面</a:t>
            </a:r>
            <a:r>
              <a:rPr lang="en-US" altLang="zh-CN"/>
              <a:t>Shell</a:t>
            </a:r>
            <a:r>
              <a:rPr lang="zh-CN" altLang="en-US"/>
              <a:t>中的</a:t>
            </a:r>
            <a:r>
              <a:rPr lang="en-US" altLang="zh-CN"/>
              <a:t>Shellshock</a:t>
            </a:r>
            <a:r>
              <a:rPr lang="zh-CN" altLang="en-US"/>
              <a:t>漏洞</a:t>
            </a:r>
            <a:r>
              <a:t>，</a:t>
            </a:r>
            <a:r>
              <a:rPr lang="zh-CN" altLang="en-US"/>
              <a:t>通过</a:t>
            </a:r>
            <a:r>
              <a:rPr lang="en-US" altLang="zh-CN"/>
              <a:t>bash</a:t>
            </a:r>
            <a:r>
              <a:rPr lang="zh-CN" altLang="en-US"/>
              <a:t>跳过计算机系统内部的屏蔽机制从而远程控制几乎所有系统，主要用于获取私人信息、获取服务器控制权甚至进行拒绝服务攻击。</a:t>
            </a:r>
            <a:endParaRPr lang="zh-CN" altLang="en-US"/>
          </a:p>
          <a:p>
            <a:pPr lvl="1"/>
            <a:r>
              <a:rPr lang="zh-CN" altLang="en-US"/>
              <a:t>核心</a:t>
            </a:r>
            <a:r>
              <a:rPr lang="zh-CN" altLang="en-US"/>
              <a:t>难题：大数据量和跨架构的特点以及恶意混淆代码等</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研究问题选定及论证</a:t>
            </a:r>
            <a:endParaRPr lang="zh-CN" altLang="en-US"/>
          </a:p>
        </p:txBody>
      </p:sp>
      <p:sp>
        <p:nvSpPr>
          <p:cNvPr id="3" name="内容占位符 2"/>
          <p:cNvSpPr>
            <a:spLocks noGrp="1"/>
          </p:cNvSpPr>
          <p:nvPr>
            <p:ph idx="1"/>
          </p:nvPr>
        </p:nvSpPr>
        <p:spPr/>
        <p:txBody>
          <a:bodyPr/>
          <a:lstStyle/>
          <a:p>
            <a:r>
              <a:rPr lang="zh-CN" altLang="en-US"/>
              <a:t>现有研究基础</a:t>
            </a:r>
            <a:endParaRPr lang="zh-CN" altLang="en-US"/>
          </a:p>
          <a:p>
            <a:pPr marL="742950" lvl="1" indent="-285750">
              <a:buFont typeface="Arial" panose="020B0604020202020204" pitchFamily="34" charset="0"/>
              <a:buChar char="–"/>
            </a:pPr>
            <a:r>
              <a:rPr lang="en-US" altLang="zh-CN">
                <a:solidFill>
                  <a:schemeClr val="tx1"/>
                </a:solidFill>
              </a:rPr>
              <a:t>Gemini</a:t>
            </a:r>
            <a:r>
              <a:rPr>
                <a:solidFill>
                  <a:schemeClr val="tx1"/>
                </a:solidFill>
              </a:rPr>
              <a:t>模型：</a:t>
            </a:r>
            <a:r>
              <a:rPr lang="zh-CN" altLang="en-US">
                <a:solidFill>
                  <a:schemeClr val="tx1"/>
                </a:solidFill>
              </a:rPr>
              <a:t>基于</a:t>
            </a:r>
            <a:r>
              <a:rPr lang="en-US" altLang="zh-CN">
                <a:solidFill>
                  <a:srgbClr val="FF0000"/>
                </a:solidFill>
              </a:rPr>
              <a:t>Structure2vec</a:t>
            </a:r>
            <a:r>
              <a:rPr lang="zh-CN" altLang="en-US">
                <a:solidFill>
                  <a:schemeClr val="tx1"/>
                </a:solidFill>
              </a:rPr>
              <a:t>的图嵌入神经网络将二进制程序函数属性控制流图转化为高维特征向量</a:t>
            </a:r>
            <a:r>
              <a:rPr lang="en-US" altLang="zh-CN">
                <a:solidFill>
                  <a:schemeClr val="tx1"/>
                </a:solidFill>
              </a:rPr>
              <a:t>,</a:t>
            </a:r>
            <a:r>
              <a:rPr lang="zh-CN" altLang="en-US">
                <a:solidFill>
                  <a:schemeClr val="tx1"/>
                </a:solidFill>
              </a:rPr>
              <a:t>测量两个高维特征向量间的余弦距离进行同源性判别。</a:t>
            </a:r>
            <a:endParaRPr lang="zh-CN" altLang="en-US">
              <a:solidFill>
                <a:schemeClr val="tx1"/>
              </a:solidFill>
            </a:endParaRPr>
          </a:p>
          <a:p>
            <a:pPr marL="742950" lvl="1" indent="-285750">
              <a:buFont typeface="Arial" panose="020B0604020202020204" pitchFamily="34" charset="0"/>
              <a:buChar char="–"/>
            </a:pPr>
            <a:r>
              <a:rPr lang="zh-CN" altLang="en-US">
                <a:solidFill>
                  <a:schemeClr val="tx1"/>
                </a:solidFill>
              </a:rPr>
              <a:t>构造语义标记流图方法：提取节点特征生成数值向量</a:t>
            </a:r>
            <a:r>
              <a:rPr lang="en-US" altLang="zh-CN">
                <a:solidFill>
                  <a:schemeClr val="tx1"/>
                </a:solidFill>
              </a:rPr>
              <a:t>,</a:t>
            </a:r>
            <a:r>
              <a:rPr lang="zh-CN" altLang="en-US">
                <a:solidFill>
                  <a:schemeClr val="tx1"/>
                </a:solidFill>
              </a:rPr>
              <a:t>将二进制程序函数的控制流和数据流整合</a:t>
            </a:r>
            <a:r>
              <a:rPr lang="en-US" altLang="zh-CN">
                <a:solidFill>
                  <a:schemeClr val="tx1"/>
                </a:solidFill>
              </a:rPr>
              <a:t>,</a:t>
            </a:r>
            <a:r>
              <a:rPr lang="zh-CN" altLang="en-US">
                <a:solidFill>
                  <a:schemeClr val="tx1"/>
                </a:solidFill>
              </a:rPr>
              <a:t>生成二进制程序函数的高维特征向量。</a:t>
            </a:r>
            <a:endParaRPr lang="zh-CN" altLang="en-US">
              <a:solidFill>
                <a:schemeClr val="tx1"/>
              </a:solidFill>
            </a:endParaRPr>
          </a:p>
          <a:p>
            <a:pPr marL="742950" lvl="1" indent="-285750">
              <a:buFont typeface="Arial" panose="020B0604020202020204" pitchFamily="34" charset="0"/>
              <a:buChar char="–"/>
            </a:pPr>
            <a:r>
              <a:rPr lang="zh-CN" altLang="en-US">
                <a:solidFill>
                  <a:schemeClr val="tx1"/>
                </a:solidFill>
              </a:rPr>
              <a:t>双通道特征提取方法：用</a:t>
            </a:r>
            <a:r>
              <a:rPr lang="en-US" altLang="zh-CN">
                <a:solidFill>
                  <a:schemeClr val="tx1"/>
                </a:solidFill>
              </a:rPr>
              <a:t>GAE</a:t>
            </a:r>
            <a:r>
              <a:rPr lang="zh-CN" altLang="en-US">
                <a:solidFill>
                  <a:schemeClr val="tx1"/>
                </a:solidFill>
              </a:rPr>
              <a:t>模型来替代</a:t>
            </a:r>
            <a:r>
              <a:rPr lang="en-US" altLang="zh-CN">
                <a:solidFill>
                  <a:schemeClr val="tx1"/>
                </a:solidFill>
              </a:rPr>
              <a:t>Structure2vec</a:t>
            </a:r>
            <a:r>
              <a:rPr lang="zh-CN" altLang="en-US">
                <a:solidFill>
                  <a:schemeClr val="tx1"/>
                </a:solidFill>
              </a:rPr>
              <a:t>算法</a:t>
            </a:r>
            <a:endParaRPr lang="zh-CN" altLang="en-US">
              <a:solidFill>
                <a:schemeClr val="tx1"/>
              </a:solidFill>
            </a:endParaRPr>
          </a:p>
          <a:p>
            <a:pPr marL="742950" lvl="1" indent="-285750">
              <a:buFont typeface="Arial" panose="020B0604020202020204" pitchFamily="34" charset="0"/>
              <a:buChar char="–"/>
            </a:pPr>
            <a:r>
              <a:rPr lang="zh-CN" altLang="en-US">
                <a:solidFill>
                  <a:schemeClr val="tx1"/>
                </a:solidFill>
              </a:rPr>
              <a:t>自注意力神经网络二进制程序函数嵌入模型、</a:t>
            </a:r>
            <a:r>
              <a:rPr lang="en-US" altLang="en-US">
                <a:solidFill>
                  <a:schemeClr val="tx1"/>
                </a:solidFill>
              </a:rPr>
              <a:t>ɑ</a:t>
            </a:r>
            <a:r>
              <a:rPr lang="en-US" altLang="zh-CN">
                <a:solidFill>
                  <a:schemeClr val="tx1"/>
                </a:solidFill>
              </a:rPr>
              <a:t>diff</a:t>
            </a:r>
            <a:r>
              <a:rPr lang="zh-CN" altLang="en-US">
                <a:solidFill>
                  <a:schemeClr val="tx1"/>
                </a:solidFill>
              </a:rPr>
              <a:t>模型，</a:t>
            </a:r>
            <a:r>
              <a:rPr lang="zh-CN" altLang="en-US">
                <a:solidFill>
                  <a:schemeClr val="tx1"/>
                </a:solidFill>
              </a:rPr>
              <a:t>等等</a:t>
            </a:r>
            <a:endParaRPr lang="zh-CN" altLang="en-US">
              <a:solidFill>
                <a:schemeClr val="tx1"/>
              </a:solidFill>
            </a:endParaRPr>
          </a:p>
          <a:p>
            <a:pPr marL="457200" lvl="1" indent="0">
              <a:buFont typeface="Arial" panose="020B0604020202020204" pitchFamily="34" charset="0"/>
              <a:buNone/>
            </a:pPr>
            <a:r>
              <a:rPr lang="zh-CN" altLang="en-US">
                <a:solidFill>
                  <a:schemeClr val="tx1"/>
                </a:solidFill>
              </a:rPr>
              <a:t>优化图高维特征向量生成过程</a:t>
            </a:r>
            <a:r>
              <a:rPr lang="en-US" altLang="zh-CN">
                <a:solidFill>
                  <a:schemeClr val="tx1"/>
                </a:solidFill>
              </a:rPr>
              <a:t>→</a:t>
            </a:r>
            <a:r>
              <a:rPr lang="zh-CN" altLang="en-US">
                <a:solidFill>
                  <a:schemeClr val="tx1"/>
                </a:solidFill>
              </a:rPr>
              <a:t>丰富函数特征提取方法</a:t>
            </a:r>
            <a:r>
              <a:rPr lang="en-US" altLang="zh-CN">
                <a:solidFill>
                  <a:schemeClr val="tx1"/>
                </a:solidFill>
              </a:rPr>
              <a:t>→</a:t>
            </a:r>
            <a:r>
              <a:rPr lang="zh-CN" altLang="en-US">
                <a:solidFill>
                  <a:schemeClr val="tx1"/>
                </a:solidFill>
              </a:rPr>
              <a:t>学习二进制函数特征关联信息</a:t>
            </a:r>
            <a:r>
              <a:rPr lang="en-US" altLang="zh-CN">
                <a:solidFill>
                  <a:schemeClr val="tx1"/>
                </a:solidFill>
              </a:rPr>
              <a:t>→</a:t>
            </a:r>
            <a:r>
              <a:rPr lang="zh-CN" altLang="en-US">
                <a:solidFill>
                  <a:schemeClr val="tx1"/>
                </a:solidFill>
              </a:rPr>
              <a:t>挖掘二进制函数内在特征</a:t>
            </a:r>
            <a:endParaRPr lang="zh-CN" altLang="en-US">
              <a:solidFill>
                <a:schemeClr val="tx1"/>
              </a:solidFill>
            </a:endParaRPr>
          </a:p>
          <a:p>
            <a:pPr marL="457200" lvl="1" indent="0">
              <a:buFont typeface="Arial" panose="020B0604020202020204" pitchFamily="34" charset="0"/>
              <a:buNone/>
            </a:pPr>
            <a:r>
              <a:rPr lang="en-US" altLang="zh-CN">
                <a:solidFill>
                  <a:schemeClr val="tx1"/>
                </a:solidFill>
              </a:rPr>
              <a:t>P.S*</a:t>
            </a:r>
            <a:r>
              <a:rPr lang="zh-CN" altLang="en-US">
                <a:solidFill>
                  <a:schemeClr val="tx1"/>
                </a:solidFill>
              </a:rPr>
              <a:t>在作者的另一篇论文中，提出了一种融合控制流图节点序列信息的二进制程序函数漏洞同源性判别方法。以</a:t>
            </a:r>
            <a:r>
              <a:rPr lang="en-US" altLang="zh-CN">
                <a:solidFill>
                  <a:srgbClr val="FF0000"/>
                </a:solidFill>
              </a:rPr>
              <a:t>structure2vec</a:t>
            </a:r>
            <a:r>
              <a:rPr lang="zh-CN" altLang="en-US">
                <a:solidFill>
                  <a:schemeClr val="tx1"/>
                </a:solidFill>
              </a:rPr>
              <a:t>图嵌入网络进行节点嵌</a:t>
            </a:r>
            <a:r>
              <a:rPr lang="zh-CN" altLang="en-US">
                <a:solidFill>
                  <a:schemeClr val="tx1"/>
                </a:solidFill>
              </a:rPr>
              <a:t>入生成，通过引入</a:t>
            </a:r>
            <a:r>
              <a:rPr lang="en-US" altLang="zh-CN">
                <a:solidFill>
                  <a:schemeClr val="tx1"/>
                </a:solidFill>
              </a:rPr>
              <a:t>LSTM</a:t>
            </a:r>
            <a:r>
              <a:rPr lang="zh-CN" altLang="en-US">
                <a:solidFill>
                  <a:schemeClr val="tx1"/>
                </a:solidFill>
              </a:rPr>
              <a:t>网络提取节点序列特征对节点嵌入向量聚合，生成控制流图高维特征向量，实现对二进制程序函数漏洞同源性的有效判别</a:t>
            </a:r>
            <a:endParaRPr lang="zh-CN" altLang="en-US">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研究问题选定及论证</a:t>
            </a:r>
            <a:endParaRPr lang="zh-CN" altLang="en-US"/>
          </a:p>
        </p:txBody>
      </p:sp>
      <p:sp>
        <p:nvSpPr>
          <p:cNvPr id="3" name="内容占位符 2"/>
          <p:cNvSpPr>
            <a:spLocks noGrp="1"/>
          </p:cNvSpPr>
          <p:nvPr>
            <p:ph idx="1"/>
          </p:nvPr>
        </p:nvSpPr>
        <p:spPr/>
        <p:txBody>
          <a:bodyPr/>
          <a:lstStyle/>
          <a:p>
            <a:r>
              <a:rPr lang="zh-CN" altLang="en-US"/>
              <a:t>关于</a:t>
            </a:r>
            <a:r>
              <a:rPr lang="en-US" altLang="zh-CN">
                <a:solidFill>
                  <a:srgbClr val="FF0000"/>
                </a:solidFill>
                <a:sym typeface="+mn-ea"/>
              </a:rPr>
              <a:t>Structure2vec(Graph Embedding)</a:t>
            </a:r>
            <a:endParaRPr lang="en-US" altLang="zh-CN">
              <a:solidFill>
                <a:srgbClr val="FF0000"/>
              </a:solidFill>
              <a:sym typeface="+mn-ea"/>
            </a:endParaRPr>
          </a:p>
          <a:p>
            <a:pPr lvl="1"/>
            <a:r>
              <a:rPr lang="zh-CN" altLang="en-US"/>
              <a:t>直观来看，具有相同度数的顶点是结构相似的，若各自邻接顶点仍然具有相同度数，那么他们的相似度就更高。</a:t>
            </a:r>
            <a:endParaRPr lang="zh-CN" altLang="en-US"/>
          </a:p>
          <a:p>
            <a:pPr lvl="1"/>
            <a:endParaRPr lang="zh-CN" altLang="en-US"/>
          </a:p>
          <a:p>
            <a:pPr lvl="1"/>
            <a:r>
              <a:rPr lang="en-US" altLang="zh-CN"/>
              <a:t>f</a:t>
            </a:r>
            <a:r>
              <a:rPr lang="en-US" altLang="zh-CN" baseline="-25000">
                <a:solidFill>
                  <a:schemeClr val="tx1"/>
                </a:solidFill>
                <a:uFillTx/>
                <a:latin typeface="方正正中黑简体" panose="02000500000000000000" pitchFamily="2" charset="-122"/>
              </a:rPr>
              <a:t>k</a:t>
            </a:r>
            <a:r>
              <a:rPr lang="en-US" altLang="zh-CN">
                <a:solidFill>
                  <a:schemeClr val="tx1"/>
                </a:solidFill>
                <a:uFillTx/>
                <a:latin typeface="方正正中黑简体" panose="02000500000000000000" pitchFamily="2" charset="-122"/>
              </a:rPr>
              <a:t>(u,v):</a:t>
            </a:r>
            <a:r>
              <a:rPr lang="zh-CN" altLang="en-US"/>
              <a:t>考虑两个节点的</a:t>
            </a:r>
            <a:r>
              <a:rPr lang="en-US" altLang="zh-CN"/>
              <a:t>k</a:t>
            </a:r>
            <a:r>
              <a:rPr lang="zh-CN" altLang="en-US"/>
              <a:t>跳邻域（</a:t>
            </a:r>
            <a:r>
              <a:rPr lang="en-US" altLang="zh-CN"/>
              <a:t>k-hop neighborhoods</a:t>
            </a:r>
            <a:r>
              <a:rPr lang="zh-CN" altLang="en-US"/>
              <a:t>）时（小于等于</a:t>
            </a:r>
            <a:r>
              <a:rPr lang="en-US" altLang="zh-CN"/>
              <a:t>k</a:t>
            </a:r>
            <a:r>
              <a:rPr lang="zh-CN" altLang="en-US"/>
              <a:t>跳的所有邻居均要考虑），两个节点的在结构距离（</a:t>
            </a:r>
            <a:r>
              <a:rPr lang="en-US" altLang="zh-CN"/>
              <a:t>structural distance</a:t>
            </a:r>
            <a:r>
              <a:rPr lang="zh-CN" altLang="en-US"/>
              <a:t>）</a:t>
            </a:r>
            <a:endParaRPr lang="zh-CN" altLang="en-US"/>
          </a:p>
          <a:p>
            <a:pPr lvl="1"/>
            <a:r>
              <a:rPr lang="en-US" altLang="zh-CN"/>
              <a:t>R</a:t>
            </a:r>
            <a:r>
              <a:rPr lang="en-US" altLang="zh-CN" baseline="-25000">
                <a:solidFill>
                  <a:schemeClr val="tx1"/>
                </a:solidFill>
                <a:uFillTx/>
                <a:latin typeface="方正正中黑简体" panose="02000500000000000000" pitchFamily="2" charset="-122"/>
              </a:rPr>
              <a:t>k</a:t>
            </a:r>
            <a:r>
              <a:rPr lang="en-US" altLang="zh-CN"/>
              <a:t>(u):</a:t>
            </a:r>
            <a:r>
              <a:rPr lang="zh-CN" altLang="en-US"/>
              <a:t>与节点</a:t>
            </a:r>
            <a:r>
              <a:rPr lang="en-US" altLang="zh-CN"/>
              <a:t>u</a:t>
            </a:r>
            <a:r>
              <a:rPr lang="zh-CN" altLang="en-US"/>
              <a:t>距离为</a:t>
            </a:r>
            <a:r>
              <a:rPr lang="en-US" altLang="zh-CN"/>
              <a:t>k</a:t>
            </a:r>
            <a:r>
              <a:rPr lang="zh-CN" altLang="en-US"/>
              <a:t>的节点集合</a:t>
            </a:r>
            <a:r>
              <a:rPr lang="en-US" altLang="zh-CN"/>
              <a:t>;s(</a:t>
            </a:r>
            <a:r>
              <a:rPr lang="en-US" altLang="zh-CN">
                <a:sym typeface="+mn-ea"/>
              </a:rPr>
              <a:t>R</a:t>
            </a:r>
            <a:r>
              <a:rPr lang="en-US" altLang="zh-CN" baseline="-25000">
                <a:uFillTx/>
                <a:latin typeface="方正正中黑简体" panose="02000500000000000000" pitchFamily="2" charset="-122"/>
                <a:sym typeface="+mn-ea"/>
              </a:rPr>
              <a:t>k</a:t>
            </a:r>
            <a:r>
              <a:rPr lang="en-US" altLang="zh-CN">
                <a:sym typeface="+mn-ea"/>
              </a:rPr>
              <a:t>(u)</a:t>
            </a:r>
            <a:r>
              <a:rPr lang="en-US" altLang="zh-CN"/>
              <a:t>):</a:t>
            </a:r>
            <a:r>
              <a:rPr lang="zh-CN" altLang="en-US"/>
              <a:t>节点按照度的从小到大排序后的序列</a:t>
            </a:r>
            <a:endParaRPr lang="zh-CN" altLang="en-US"/>
          </a:p>
          <a:p>
            <a:pPr lvl="1"/>
            <a:endParaRPr lang="zh-CN" altLang="en-US"/>
          </a:p>
          <a:p>
            <a:pPr lvl="1"/>
            <a:r>
              <a:rPr lang="zh-CN" altLang="en-US"/>
              <a:t>每条边的权值定义</a:t>
            </a:r>
            <a:r>
              <a:rPr lang="en-US" altLang="zh-CN"/>
              <a:t>:</a:t>
            </a:r>
            <a:endParaRPr lang="zh-CN" altLang="en-US"/>
          </a:p>
          <a:p>
            <a:pPr lvl="1"/>
            <a:endParaRPr lang="zh-CN" altLang="en-US"/>
          </a:p>
          <a:p>
            <a:pPr lvl="1"/>
            <a:r>
              <a:t>随机游走概率与权值</a:t>
            </a:r>
            <a:r>
              <a:t>相关</a:t>
            </a:r>
          </a:p>
        </p:txBody>
      </p:sp>
      <p:pic>
        <p:nvPicPr>
          <p:cNvPr id="4" name="图片 3"/>
          <p:cNvPicPr/>
          <p:nvPr/>
        </p:nvPicPr>
        <p:blipFill>
          <a:blip r:embed="rId1"/>
          <a:stretch>
            <a:fillRect/>
          </a:stretch>
        </p:blipFill>
        <p:spPr>
          <a:xfrm>
            <a:off x="5735955" y="1988820"/>
            <a:ext cx="3088005" cy="946785"/>
          </a:xfrm>
          <a:prstGeom prst="rect">
            <a:avLst/>
          </a:prstGeom>
        </p:spPr>
      </p:pic>
      <p:pic>
        <p:nvPicPr>
          <p:cNvPr id="5" name="图片 4"/>
          <p:cNvPicPr>
            <a:picLocks noChangeAspect="1"/>
          </p:cNvPicPr>
          <p:nvPr/>
        </p:nvPicPr>
        <p:blipFill>
          <a:blip r:embed="rId2"/>
          <a:stretch>
            <a:fillRect/>
          </a:stretch>
        </p:blipFill>
        <p:spPr>
          <a:xfrm>
            <a:off x="1127125" y="4221480"/>
            <a:ext cx="3578860" cy="482600"/>
          </a:xfrm>
          <a:prstGeom prst="rect">
            <a:avLst/>
          </a:prstGeom>
        </p:spPr>
      </p:pic>
      <p:pic>
        <p:nvPicPr>
          <p:cNvPr id="6" name="图片 5"/>
          <p:cNvPicPr>
            <a:picLocks noChangeAspect="1"/>
          </p:cNvPicPr>
          <p:nvPr/>
        </p:nvPicPr>
        <p:blipFill>
          <a:blip r:embed="rId3"/>
          <a:stretch>
            <a:fillRect/>
          </a:stretch>
        </p:blipFill>
        <p:spPr>
          <a:xfrm>
            <a:off x="983615" y="5085080"/>
            <a:ext cx="3206750" cy="361950"/>
          </a:xfrm>
          <a:prstGeom prst="rect">
            <a:avLst/>
          </a:prstGeom>
        </p:spPr>
      </p:pic>
      <p:pic>
        <p:nvPicPr>
          <p:cNvPr id="7" name="图片 6"/>
          <p:cNvPicPr>
            <a:picLocks noChangeAspect="1"/>
          </p:cNvPicPr>
          <p:nvPr/>
        </p:nvPicPr>
        <p:blipFill>
          <a:blip r:embed="rId4"/>
          <a:stretch>
            <a:fillRect/>
          </a:stretch>
        </p:blipFill>
        <p:spPr>
          <a:xfrm>
            <a:off x="4841875" y="4182745"/>
            <a:ext cx="6828790" cy="26149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精典案例分析与实践</a:t>
            </a:r>
            <a:endParaRPr lang="zh-CN" altLang="en-US"/>
          </a:p>
        </p:txBody>
      </p:sp>
      <p:sp>
        <p:nvSpPr>
          <p:cNvPr id="3" name="内容占位符 2"/>
          <p:cNvSpPr>
            <a:spLocks noGrp="1"/>
          </p:cNvSpPr>
          <p:nvPr>
            <p:ph idx="1"/>
          </p:nvPr>
        </p:nvSpPr>
        <p:spPr/>
        <p:txBody>
          <a:bodyPr/>
          <a:lstStyle/>
          <a:p>
            <a:r>
              <a:rPr lang="zh-CN" altLang="en-US" b="1"/>
              <a:t>测试案例设计</a:t>
            </a:r>
            <a:endParaRPr lang="zh-CN" altLang="en-US"/>
          </a:p>
          <a:p>
            <a:pPr marL="0" indent="0" fontAlgn="auto">
              <a:lnSpc>
                <a:spcPct val="150000"/>
              </a:lnSpc>
              <a:buNone/>
            </a:pPr>
            <a:r>
              <a:rPr lang="en-US" altLang="zh-CN" sz="2000"/>
              <a:t>1.</a:t>
            </a:r>
            <a:r>
              <a:rPr lang="zh-CN" altLang="en-US" sz="2000"/>
              <a:t>测试目标</a:t>
            </a:r>
            <a:r>
              <a:rPr lang="zh-CN" altLang="en-US" sz="2000"/>
              <a:t>：测试二进制程序函数漏洞同源性判别实验系统的功能指标是否符合预期，并测试系统时间、并发性、兼容性等性能指标。</a:t>
            </a:r>
            <a:endParaRPr lang="zh-CN" altLang="en-US" sz="2000"/>
          </a:p>
          <a:p>
            <a:pPr marL="0" indent="0" fontAlgn="auto">
              <a:lnSpc>
                <a:spcPct val="150000"/>
              </a:lnSpc>
              <a:buNone/>
            </a:pPr>
            <a:r>
              <a:rPr lang="en-US" altLang="zh-CN" sz="2000"/>
              <a:t>2.</a:t>
            </a:r>
            <a:r>
              <a:rPr lang="zh-CN" altLang="en-US" sz="2000"/>
              <a:t>测试用例：开源软件</a:t>
            </a:r>
            <a:r>
              <a:rPr lang="en-US" altLang="zh-CN" sz="2000"/>
              <a:t>OpenSSLv1.0.1f</a:t>
            </a:r>
            <a:r>
              <a:rPr lang="zh-CN" altLang="en-US" sz="2000"/>
              <a:t>中部分</a:t>
            </a:r>
            <a:r>
              <a:rPr lang="en-US" altLang="zh-CN" sz="2000"/>
              <a:t>ELF</a:t>
            </a:r>
            <a:r>
              <a:rPr lang="zh-CN" altLang="en-US" sz="2000"/>
              <a:t>文件。</a:t>
            </a:r>
            <a:endParaRPr lang="zh-CN" altLang="en-US" sz="2000"/>
          </a:p>
          <a:p>
            <a:pPr marL="0" indent="0" fontAlgn="auto">
              <a:lnSpc>
                <a:spcPct val="150000"/>
              </a:lnSpc>
              <a:buNone/>
            </a:pPr>
            <a:r>
              <a:rPr lang="en-US" altLang="zh-CN" sz="2000"/>
              <a:t>3.</a:t>
            </a:r>
            <a:r>
              <a:rPr lang="zh-CN" altLang="en-US" sz="2000"/>
              <a:t>测试环境：</a:t>
            </a:r>
            <a:r>
              <a:rPr lang="en-US" altLang="zh-CN" sz="2000"/>
              <a:t>Web</a:t>
            </a:r>
            <a:r>
              <a:rPr lang="zh-CN" altLang="en-US" sz="2000"/>
              <a:t>服务器</a:t>
            </a:r>
            <a:r>
              <a:rPr lang="en-US" altLang="zh-CN" sz="2000"/>
              <a:t>1</a:t>
            </a:r>
            <a:r>
              <a:rPr lang="zh-CN" altLang="en-US" sz="2000"/>
              <a:t>台，</a:t>
            </a:r>
            <a:r>
              <a:rPr lang="en-US" altLang="zh-CN" sz="2000"/>
              <a:t>10</a:t>
            </a:r>
            <a:r>
              <a:rPr lang="zh-CN" altLang="en-US" sz="2000"/>
              <a:t>核</a:t>
            </a:r>
            <a:r>
              <a:rPr lang="en-US" altLang="zh-CN" sz="2000"/>
              <a:t>CPU</a:t>
            </a:r>
            <a:r>
              <a:rPr lang="zh-CN" altLang="en-US" sz="2000"/>
              <a:t>，</a:t>
            </a:r>
            <a:r>
              <a:rPr lang="en-US" altLang="zh-CN" sz="2000"/>
              <a:t>64GB</a:t>
            </a:r>
            <a:r>
              <a:rPr lang="zh-CN" altLang="en-US" sz="2000"/>
              <a:t>内存，操作系统为</a:t>
            </a:r>
            <a:r>
              <a:rPr lang="en-US" altLang="zh-CN" sz="2000"/>
              <a:t>Ubuntu20.04PC</a:t>
            </a:r>
            <a:r>
              <a:rPr lang="zh-CN" altLang="en-US" sz="2000"/>
              <a:t>机</a:t>
            </a:r>
            <a:r>
              <a:rPr lang="en-US" altLang="zh-CN" sz="2000"/>
              <a:t>2</a:t>
            </a:r>
            <a:r>
              <a:rPr lang="zh-CN" altLang="en-US" sz="2000"/>
              <a:t>台，双核</a:t>
            </a:r>
            <a:r>
              <a:rPr lang="en-US" altLang="zh-CN" sz="2000"/>
              <a:t> CPU,8GB</a:t>
            </a:r>
            <a:r>
              <a:rPr lang="zh-CN" altLang="en-US" sz="2000"/>
              <a:t>内存，操作系统为</a:t>
            </a:r>
            <a:r>
              <a:rPr lang="en-US" altLang="zh-CN" sz="2000"/>
              <a:t>Windows10</a:t>
            </a:r>
            <a:r>
              <a:rPr lang="zh-CN" altLang="en-US" sz="2000"/>
              <a:t>；路由器</a:t>
            </a:r>
            <a:r>
              <a:rPr lang="en-US" altLang="zh-CN" sz="2000"/>
              <a:t>1</a:t>
            </a:r>
            <a:r>
              <a:rPr lang="zh-CN" altLang="en-US" sz="2000"/>
              <a:t>台，</a:t>
            </a:r>
            <a:r>
              <a:rPr lang="en-US" altLang="zh-CN" sz="2000"/>
              <a:t>100Mbps</a:t>
            </a:r>
            <a:r>
              <a:rPr lang="zh-CN" altLang="en-US" sz="2000"/>
              <a:t>宽带（硬件）；</a:t>
            </a:r>
            <a:r>
              <a:rPr lang="en-US" altLang="zh-CN" sz="2000"/>
              <a:t>IDA Pro</a:t>
            </a:r>
            <a:r>
              <a:rPr lang="zh-CN" altLang="en-US" sz="2000"/>
              <a:t>，</a:t>
            </a:r>
            <a:r>
              <a:rPr lang="en-US" altLang="zh-CN" sz="2000"/>
              <a:t>Python 3.8</a:t>
            </a:r>
            <a:r>
              <a:rPr lang="zh-CN" altLang="en-US" sz="2000"/>
              <a:t>，</a:t>
            </a:r>
            <a:r>
              <a:rPr lang="en-US" altLang="zh-CN" sz="2000"/>
              <a:t>Django</a:t>
            </a:r>
            <a:r>
              <a:rPr lang="zh-CN" altLang="en-US" sz="2000"/>
              <a:t>，</a:t>
            </a:r>
            <a:r>
              <a:rPr lang="en-US" altLang="zh-CN" sz="2000"/>
              <a:t>TensorFlow</a:t>
            </a:r>
            <a:r>
              <a:rPr lang="zh-CN" altLang="en-US" sz="2000"/>
              <a:t>，</a:t>
            </a:r>
            <a:r>
              <a:rPr lang="en-US" altLang="zh-CN" sz="2000"/>
              <a:t>MySQL</a:t>
            </a:r>
            <a:r>
              <a:rPr lang="zh-CN" altLang="en-US" sz="2000"/>
              <a:t>等（</a:t>
            </a:r>
            <a:r>
              <a:rPr lang="zh-CN" altLang="en-US" sz="2000"/>
              <a:t>软件）</a:t>
            </a:r>
            <a:endParaRPr lang="zh-CN"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精典案例分析与实践</a:t>
            </a:r>
            <a:endParaRPr lang="zh-CN" altLang="en-US"/>
          </a:p>
        </p:txBody>
      </p:sp>
      <p:sp>
        <p:nvSpPr>
          <p:cNvPr id="3" name="内容占位符 2"/>
          <p:cNvSpPr>
            <a:spLocks noGrp="1"/>
          </p:cNvSpPr>
          <p:nvPr>
            <p:ph idx="1"/>
          </p:nvPr>
        </p:nvSpPr>
        <p:spPr/>
        <p:txBody>
          <a:bodyPr/>
          <a:lstStyle/>
          <a:p>
            <a:r>
              <a:rPr lang="zh-CN" altLang="en-US" b="1"/>
              <a:t>测试过程与结果</a:t>
            </a:r>
            <a:endParaRPr lang="zh-CN" altLang="en-US" b="1"/>
          </a:p>
          <a:p>
            <a:endParaRPr lang="zh-CN" altLang="en-US" b="1"/>
          </a:p>
          <a:p>
            <a:endParaRPr lang="zh-CN" altLang="en-US" b="1"/>
          </a:p>
          <a:p>
            <a:endParaRPr lang="zh-CN" altLang="en-US" b="1"/>
          </a:p>
          <a:p>
            <a:endParaRPr lang="zh-CN" altLang="en-US" b="1"/>
          </a:p>
          <a:p>
            <a:endParaRPr lang="zh-CN" altLang="en-US" b="1"/>
          </a:p>
          <a:p>
            <a:endParaRPr lang="zh-CN" altLang="en-US" b="1"/>
          </a:p>
          <a:p>
            <a:endParaRPr lang="zh-CN" altLang="en-US" b="1"/>
          </a:p>
          <a:p>
            <a:endParaRPr lang="zh-CN" altLang="en-US" b="1"/>
          </a:p>
          <a:p>
            <a:endParaRPr lang="zh-CN" altLang="en-US" b="1"/>
          </a:p>
          <a:p>
            <a:pPr marL="0" indent="0">
              <a:buNone/>
            </a:pPr>
            <a:r>
              <a:rPr lang="zh-CN" altLang="en-US" sz="2000"/>
              <a:t>另，该测试包含了两个性能测试，即兼容性和并发性测试，结果均良好并符合预期。</a:t>
            </a:r>
            <a:endParaRPr lang="zh-CN" altLang="en-US" sz="2000"/>
          </a:p>
        </p:txBody>
      </p:sp>
      <p:pic>
        <p:nvPicPr>
          <p:cNvPr id="4" name="图片 3"/>
          <p:cNvPicPr>
            <a:picLocks noChangeAspect="1"/>
          </p:cNvPicPr>
          <p:nvPr/>
        </p:nvPicPr>
        <p:blipFill>
          <a:blip r:embed="rId1"/>
          <a:stretch>
            <a:fillRect/>
          </a:stretch>
        </p:blipFill>
        <p:spPr>
          <a:xfrm>
            <a:off x="1559560" y="2190750"/>
            <a:ext cx="8940800" cy="3459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精典案例分析与实践</a:t>
            </a:r>
            <a:endParaRPr lang="zh-CN" altLang="en-US"/>
          </a:p>
        </p:txBody>
      </p:sp>
      <p:sp>
        <p:nvSpPr>
          <p:cNvPr id="3" name="内容占位符 2"/>
          <p:cNvSpPr>
            <a:spLocks noGrp="1"/>
          </p:cNvSpPr>
          <p:nvPr>
            <p:ph idx="1"/>
          </p:nvPr>
        </p:nvSpPr>
        <p:spPr/>
        <p:txBody>
          <a:bodyPr/>
          <a:lstStyle/>
          <a:p>
            <a:r>
              <a:rPr lang="zh-CN" altLang="en-US" b="1"/>
              <a:t>测试结论</a:t>
            </a:r>
            <a:endParaRPr lang="zh-CN" altLang="en-US" b="1"/>
          </a:p>
          <a:p>
            <a:endParaRPr lang="zh-CN" altLang="en-US" b="1"/>
          </a:p>
          <a:p>
            <a:endParaRPr lang="zh-CN" altLang="en-US" b="1"/>
          </a:p>
          <a:p>
            <a:endParaRPr lang="zh-CN" altLang="en-US" b="1"/>
          </a:p>
          <a:p>
            <a:endParaRPr lang="zh-CN" altLang="en-US" b="1"/>
          </a:p>
          <a:p>
            <a:endParaRPr lang="zh-CN" altLang="en-US" b="1"/>
          </a:p>
          <a:p>
            <a:pPr marL="0" indent="0" algn="ctr">
              <a:buNone/>
            </a:pPr>
            <a:r>
              <a:rPr lang="zh-CN" altLang="en-US" b="1"/>
              <a:t>因此，系统功能有效，性能达标，具备实用价值！</a:t>
            </a:r>
            <a:endParaRPr lang="zh-CN" altLang="en-US" b="1"/>
          </a:p>
        </p:txBody>
      </p:sp>
      <p:pic>
        <p:nvPicPr>
          <p:cNvPr id="4" name="图片 3"/>
          <p:cNvPicPr>
            <a:picLocks noChangeAspect="1"/>
          </p:cNvPicPr>
          <p:nvPr/>
        </p:nvPicPr>
        <p:blipFill>
          <a:blip r:embed="rId1"/>
          <a:stretch>
            <a:fillRect/>
          </a:stretch>
        </p:blipFill>
        <p:spPr>
          <a:xfrm>
            <a:off x="377190" y="1917065"/>
            <a:ext cx="11466195" cy="18129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研究过程与问题分析</a:t>
            </a:r>
            <a:endParaRPr lang="zh-CN" altLang="en-US"/>
          </a:p>
        </p:txBody>
      </p:sp>
      <p:sp>
        <p:nvSpPr>
          <p:cNvPr id="3" name="内容占位符 2"/>
          <p:cNvSpPr>
            <a:spLocks noGrp="1"/>
          </p:cNvSpPr>
          <p:nvPr>
            <p:ph idx="1"/>
          </p:nvPr>
        </p:nvSpPr>
        <p:spPr/>
        <p:txBody>
          <a:bodyPr/>
          <a:lstStyle/>
          <a:p>
            <a:pPr marL="0" indent="0">
              <a:buNone/>
            </a:pPr>
            <a:r>
              <a:rPr lang="zh-CN" altLang="en-US"/>
              <a:t>遇到的核心工程难题</a:t>
            </a:r>
            <a:r>
              <a:rPr lang="en-US" altLang="zh-CN"/>
              <a:t>——</a:t>
            </a:r>
            <a:r>
              <a:rPr lang="zh-CN" altLang="en-US"/>
              <a:t>如何利用</a:t>
            </a:r>
            <a:r>
              <a:rPr lang="en-US" altLang="zh-CN"/>
              <a:t>IDA</a:t>
            </a:r>
            <a:r>
              <a:rPr lang="zh-CN" altLang="en-US"/>
              <a:t>自动执行文件反汇编，提取文件控制流图</a:t>
            </a:r>
            <a:endParaRPr lang="zh-CN" altLang="en-US"/>
          </a:p>
          <a:p>
            <a:r>
              <a:rPr lang="zh-CN" altLang="en-US"/>
              <a:t>方案：服务器接收到</a:t>
            </a:r>
            <a:r>
              <a:rPr lang="en-US" altLang="zh-CN"/>
              <a:t> ELF </a:t>
            </a:r>
            <a:r>
              <a:rPr lang="zh-CN" altLang="en-US"/>
              <a:t>文件后，将其命名为</a:t>
            </a:r>
            <a:r>
              <a:rPr lang="en-US" altLang="zh-CN"/>
              <a:t>“extract”</a:t>
            </a:r>
            <a:r>
              <a:rPr lang="zh-CN" altLang="en-US"/>
              <a:t>，存储在特定的文</a:t>
            </a:r>
            <a:endParaRPr lang="zh-CN" altLang="en-US"/>
          </a:p>
          <a:p>
            <a:pPr marL="0" indent="0">
              <a:buNone/>
            </a:pPr>
            <a:r>
              <a:rPr lang="zh-CN" altLang="en-US"/>
              <a:t>件存储目录中，然后循环等待，查询文件存储目录中是否存在反汇编信息文件</a:t>
            </a:r>
            <a:r>
              <a:rPr lang="en-US" altLang="zh-CN"/>
              <a:t>“information.txt”</a:t>
            </a:r>
            <a:r>
              <a:rPr lang="zh-CN" altLang="en-US"/>
              <a:t>。</a:t>
            </a:r>
            <a:r>
              <a:rPr lang="en-US" altLang="zh-CN"/>
              <a:t>IDA</a:t>
            </a:r>
            <a:r>
              <a:rPr lang="zh-CN" altLang="en-US"/>
              <a:t>和服务器同时启动，利用</a:t>
            </a:r>
            <a:r>
              <a:rPr lang="en-US" altLang="zh-CN"/>
              <a:t>IDA python</a:t>
            </a:r>
            <a:r>
              <a:rPr lang="zh-CN" altLang="en-US"/>
              <a:t>插件循环等待，查询存储目录中是否存在</a:t>
            </a:r>
            <a:r>
              <a:rPr lang="en-US" altLang="zh-CN"/>
              <a:t>“extract”</a:t>
            </a:r>
            <a:r>
              <a:rPr lang="zh-CN" altLang="en-US"/>
              <a:t>文件，当检测到文件时，利用</a:t>
            </a:r>
            <a:r>
              <a:rPr lang="en-US" altLang="zh-CN"/>
              <a:t>IDA</a:t>
            </a:r>
            <a:r>
              <a:rPr lang="zh-CN" altLang="en-US"/>
              <a:t>反汇编，整理反汇编信息，并将信息存储在存储目录中，命名为</a:t>
            </a:r>
            <a:r>
              <a:rPr lang="en-US" altLang="zh-CN"/>
              <a:t>“information.txt”</a:t>
            </a:r>
            <a:r>
              <a:rPr lang="zh-CN" altLang="en-US"/>
              <a:t>，其次删除目录中的</a:t>
            </a:r>
            <a:r>
              <a:rPr lang="en-US" altLang="zh-CN"/>
              <a:t>ELF</a:t>
            </a:r>
            <a:r>
              <a:rPr lang="zh-CN" altLang="en-US"/>
              <a:t>文件，然后继续循环等待，查询是否有新的</a:t>
            </a:r>
            <a:r>
              <a:rPr lang="en-US" altLang="zh-CN"/>
              <a:t>ELF</a:t>
            </a:r>
            <a:r>
              <a:rPr lang="zh-CN" altLang="en-US"/>
              <a:t>文件传入。服务器检测到</a:t>
            </a:r>
            <a:r>
              <a:rPr lang="en-US" altLang="zh-CN"/>
              <a:t>“information.txt”</a:t>
            </a:r>
            <a:r>
              <a:rPr lang="zh-CN" altLang="en-US"/>
              <a:t>文件后，将文件信息存储在内存中，删除存储目录中的</a:t>
            </a:r>
            <a:r>
              <a:rPr lang="en-US" altLang="zh-CN"/>
              <a:t>txt</a:t>
            </a:r>
            <a:r>
              <a:rPr lang="zh-CN" altLang="en-US"/>
              <a:t>文件，进行后续处理。</a:t>
            </a:r>
            <a:endParaRPr lang="en-US" altLang="zh-CN"/>
          </a:p>
          <a:p>
            <a:pPr lvl="0">
              <a:buFont typeface="Arial" panose="020B0604020202020204" pitchFamily="34" charset="0"/>
              <a:buChar char="•"/>
            </a:pPr>
            <a:r>
              <a:rPr lang="zh-CN" altLang="en-US">
                <a:solidFill>
                  <a:schemeClr val="tx1"/>
                </a:solidFill>
              </a:rPr>
              <a:t>优点：</a:t>
            </a:r>
            <a:r>
              <a:rPr lang="zh-CN" altLang="en-US">
                <a:sym typeface="+mn-ea"/>
              </a:rPr>
              <a:t>通过文件系统实现了松耦合、高可靠的协同，保证了系统的稳定运行。</a:t>
            </a:r>
            <a:endParaRPr lang="zh-CN" altLang="en-US">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研究结论与主要建议</a:t>
            </a:r>
            <a:endParaRPr lang="zh-CN" altLang="en-US"/>
          </a:p>
        </p:txBody>
      </p:sp>
      <p:sp>
        <p:nvSpPr>
          <p:cNvPr id="3" name="内容占位符 2"/>
          <p:cNvSpPr>
            <a:spLocks noGrp="1"/>
          </p:cNvSpPr>
          <p:nvPr>
            <p:ph idx="1"/>
          </p:nvPr>
        </p:nvSpPr>
        <p:spPr/>
        <p:txBody>
          <a:bodyPr/>
          <a:lstStyle/>
          <a:p>
            <a:r>
              <a:rPr lang="en-US" altLang="zh-CN"/>
              <a:t>1.</a:t>
            </a:r>
            <a:r>
              <a:rPr lang="zh-CN" altLang="en-US"/>
              <a:t>研究结论</a:t>
            </a:r>
            <a:endParaRPr lang="zh-CN" altLang="en-US"/>
          </a:p>
          <a:p>
            <a:pPr lvl="1"/>
            <a:r>
              <a:rPr lang="zh-CN" altLang="en-US"/>
              <a:t>测试结果表明系统能够实现目标功能，在响应时间、兼容性和并发性上表现良好，具有一定的实用价值。</a:t>
            </a:r>
            <a:endParaRPr lang="zh-CN" altLang="en-US"/>
          </a:p>
          <a:p>
            <a:pPr marL="342900" lvl="0" indent="-342900">
              <a:buFont typeface="Arial" panose="020B0604020202020204" pitchFamily="34" charset="0"/>
              <a:buChar char="•"/>
            </a:pPr>
            <a:r>
              <a:rPr lang="en-US" altLang="zh-CN">
                <a:solidFill>
                  <a:schemeClr val="tx1"/>
                </a:solidFill>
              </a:rPr>
              <a:t>2.</a:t>
            </a:r>
            <a:r>
              <a:rPr lang="zh-CN" altLang="en-US">
                <a:solidFill>
                  <a:schemeClr val="tx1"/>
                </a:solidFill>
              </a:rPr>
              <a:t>主要建议（</a:t>
            </a:r>
            <a:r>
              <a:rPr lang="zh-CN" altLang="en-US">
                <a:solidFill>
                  <a:schemeClr val="tx1"/>
                </a:solidFill>
              </a:rPr>
              <a:t>技术层面）</a:t>
            </a:r>
            <a:endParaRPr lang="zh-CN" altLang="en-US">
              <a:solidFill>
                <a:schemeClr val="tx1"/>
              </a:solidFill>
            </a:endParaRPr>
          </a:p>
          <a:p>
            <a:pPr marL="742950" lvl="1" indent="-285750">
              <a:buFont typeface="Arial" panose="020B0604020202020204" pitchFamily="34" charset="0"/>
              <a:buChar char="–"/>
            </a:pPr>
            <a:r>
              <a:rPr lang="zh-CN" altLang="en-US">
                <a:solidFill>
                  <a:schemeClr val="tx1"/>
                </a:solidFill>
              </a:rPr>
              <a:t>引入</a:t>
            </a:r>
            <a:r>
              <a:rPr lang="zh-CN" altLang="en-US">
                <a:solidFill>
                  <a:schemeClr val="tx1"/>
                </a:solidFill>
              </a:rPr>
              <a:t>更多文中提到的特征提取方法，提升</a:t>
            </a:r>
            <a:r>
              <a:rPr lang="zh-CN" altLang="en-US">
                <a:solidFill>
                  <a:schemeClr val="tx1"/>
                </a:solidFill>
              </a:rPr>
              <a:t>精度。</a:t>
            </a:r>
            <a:endParaRPr lang="zh-CN" altLang="en-US">
              <a:solidFill>
                <a:schemeClr val="tx1"/>
              </a:solidFill>
            </a:endParaRPr>
          </a:p>
          <a:p>
            <a:pPr marL="742950" lvl="1" indent="-285750">
              <a:buFont typeface="Arial" panose="020B0604020202020204" pitchFamily="34" charset="0"/>
              <a:buChar char="–"/>
            </a:pPr>
            <a:r>
              <a:rPr lang="zh-CN" altLang="en-US">
                <a:solidFill>
                  <a:schemeClr val="tx1"/>
                </a:solidFill>
              </a:rPr>
              <a:t>增强对高级混淆技术的抵抗能力，</a:t>
            </a:r>
            <a:r>
              <a:rPr lang="zh-CN" altLang="en-US">
                <a:solidFill>
                  <a:schemeClr val="tx1"/>
                </a:solidFill>
              </a:rPr>
              <a:t>提升系统的鲁棒性。</a:t>
            </a:r>
            <a:endParaRPr lang="zh-CN" altLang="en-US">
              <a:solidFill>
                <a:schemeClr val="tx1"/>
              </a:solidFill>
            </a:endParaRPr>
          </a:p>
          <a:p>
            <a:pPr marL="342900" lvl="0" indent="-342900">
              <a:buFont typeface="Arial" panose="020B0604020202020204" pitchFamily="34" charset="0"/>
              <a:buChar char="•"/>
            </a:pPr>
            <a:r>
              <a:rPr lang="en-US" altLang="zh-CN">
                <a:solidFill>
                  <a:schemeClr val="tx1"/>
                </a:solidFill>
              </a:rPr>
              <a:t>3.</a:t>
            </a:r>
            <a:r>
              <a:rPr lang="zh-CN" altLang="en-US">
                <a:solidFill>
                  <a:schemeClr val="tx1"/>
                </a:solidFill>
              </a:rPr>
              <a:t>主要建议（应用</a:t>
            </a:r>
            <a:r>
              <a:rPr lang="zh-CN" altLang="en-US">
                <a:solidFill>
                  <a:schemeClr val="tx1"/>
                </a:solidFill>
              </a:rPr>
              <a:t>层面）</a:t>
            </a:r>
            <a:endParaRPr lang="zh-CN" altLang="en-US">
              <a:solidFill>
                <a:schemeClr val="tx1"/>
              </a:solidFill>
            </a:endParaRPr>
          </a:p>
          <a:p>
            <a:pPr marL="742950" lvl="1" indent="-285750">
              <a:buFont typeface="Arial" panose="020B0604020202020204" pitchFamily="34" charset="0"/>
              <a:buChar char="–"/>
            </a:pPr>
            <a:r>
              <a:rPr lang="zh-CN" altLang="en-US">
                <a:solidFill>
                  <a:schemeClr val="tx1"/>
                </a:solidFill>
              </a:rPr>
              <a:t>推广该成果，使其从实验专属系统变为广为人知的安全</a:t>
            </a:r>
            <a:r>
              <a:rPr lang="zh-CN" altLang="en-US">
                <a:solidFill>
                  <a:schemeClr val="tx1"/>
                </a:solidFill>
              </a:rPr>
              <a:t>保障系统。</a:t>
            </a:r>
            <a:endParaRPr lang="zh-CN" altLang="en-US">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参考文献</a:t>
            </a:r>
            <a:endParaRPr>
              <a:sym typeface="+mn-ea"/>
            </a:endParaRPr>
          </a:p>
        </p:txBody>
      </p:sp>
      <p:sp>
        <p:nvSpPr>
          <p:cNvPr id="3" name="内容占位符 2"/>
          <p:cNvSpPr>
            <a:spLocks noGrp="1"/>
          </p:cNvSpPr>
          <p:nvPr>
            <p:ph idx="1"/>
          </p:nvPr>
        </p:nvSpPr>
        <p:spPr/>
        <p:txBody>
          <a:bodyPr/>
          <a:lstStyle/>
          <a:p>
            <a:r>
              <a:rPr lang="zh-CN" altLang="en-US">
                <a:solidFill>
                  <a:schemeClr val="tx1"/>
                </a:solidFill>
              </a:rPr>
              <a:t>陈亮</a:t>
            </a:r>
            <a:r>
              <a:rPr lang="en-US" altLang="zh-CN">
                <a:solidFill>
                  <a:schemeClr val="tx1"/>
                </a:solidFill>
              </a:rPr>
              <a:t>,</a:t>
            </a:r>
            <a:r>
              <a:rPr lang="zh-CN" altLang="en-US">
                <a:solidFill>
                  <a:schemeClr val="tx1"/>
                </a:solidFill>
              </a:rPr>
              <a:t>李嘉伟</a:t>
            </a:r>
            <a:r>
              <a:rPr lang="en-US" altLang="zh-CN">
                <a:solidFill>
                  <a:schemeClr val="tx1"/>
                </a:solidFill>
              </a:rPr>
              <a:t>,</a:t>
            </a:r>
            <a:r>
              <a:rPr lang="zh-CN" altLang="en-US">
                <a:solidFill>
                  <a:schemeClr val="tx1"/>
                </a:solidFill>
              </a:rPr>
              <a:t>韩明璐</a:t>
            </a:r>
            <a:r>
              <a:rPr lang="en-US" altLang="zh-CN">
                <a:solidFill>
                  <a:schemeClr val="tx1"/>
                </a:solidFill>
              </a:rPr>
              <a:t>. </a:t>
            </a:r>
            <a:r>
              <a:rPr lang="zh-CN" altLang="en-US">
                <a:solidFill>
                  <a:schemeClr val="tx1"/>
                </a:solidFill>
              </a:rPr>
              <a:t>二进制程序函数漏洞同源性判别系统设计与实现</a:t>
            </a:r>
            <a:r>
              <a:rPr lang="en-US" altLang="zh-CN">
                <a:solidFill>
                  <a:schemeClr val="tx1"/>
                </a:solidFill>
              </a:rPr>
              <a:t>[J]. </a:t>
            </a:r>
            <a:r>
              <a:rPr lang="zh-CN" altLang="en-US">
                <a:solidFill>
                  <a:schemeClr val="tx1"/>
                </a:solidFill>
              </a:rPr>
              <a:t>辽宁师范大学学报（自然科学版）</a:t>
            </a:r>
            <a:r>
              <a:rPr lang="en-US" altLang="zh-CN">
                <a:solidFill>
                  <a:schemeClr val="tx1"/>
                </a:solidFill>
              </a:rPr>
              <a:t>,2022,45(3):328-335. DOI:10.11679/lsxblk2022030328.</a:t>
            </a:r>
            <a:endParaRPr lang="en-US" altLang="zh-CN">
              <a:solidFill>
                <a:schemeClr val="tx1"/>
              </a:solidFill>
            </a:endParaRPr>
          </a:p>
          <a:p>
            <a:r>
              <a:rPr lang="zh-CN" altLang="en-US">
                <a:solidFill>
                  <a:schemeClr val="tx1"/>
                </a:solidFill>
              </a:rPr>
              <a:t>陈亮</a:t>
            </a:r>
            <a:r>
              <a:rPr lang="en-US" altLang="zh-CN">
                <a:solidFill>
                  <a:schemeClr val="tx1"/>
                </a:solidFill>
              </a:rPr>
              <a:t>,</a:t>
            </a:r>
            <a:r>
              <a:rPr lang="zh-CN" altLang="en-US">
                <a:solidFill>
                  <a:schemeClr val="tx1"/>
                </a:solidFill>
              </a:rPr>
              <a:t>李嘉伟</a:t>
            </a:r>
            <a:r>
              <a:rPr lang="en-US" altLang="zh-CN">
                <a:solidFill>
                  <a:schemeClr val="tx1"/>
                </a:solidFill>
              </a:rPr>
              <a:t>,</a:t>
            </a:r>
            <a:r>
              <a:rPr lang="zh-CN" altLang="en-US">
                <a:solidFill>
                  <a:schemeClr val="tx1"/>
                </a:solidFill>
              </a:rPr>
              <a:t>周莹莹</a:t>
            </a:r>
            <a:r>
              <a:rPr lang="en-US" altLang="zh-CN">
                <a:solidFill>
                  <a:schemeClr val="tx1"/>
                </a:solidFill>
              </a:rPr>
              <a:t>. </a:t>
            </a:r>
            <a:r>
              <a:rPr lang="zh-CN" altLang="en-US">
                <a:solidFill>
                  <a:schemeClr val="tx1"/>
                </a:solidFill>
              </a:rPr>
              <a:t>基于融合节点序列信息的漏洞同源性判别</a:t>
            </a:r>
            <a:r>
              <a:rPr lang="en-US" altLang="zh-CN">
                <a:solidFill>
                  <a:schemeClr val="tx1"/>
                </a:solidFill>
              </a:rPr>
              <a:t>[J]. </a:t>
            </a:r>
            <a:r>
              <a:rPr lang="zh-CN" altLang="en-US">
                <a:solidFill>
                  <a:schemeClr val="tx1"/>
                </a:solidFill>
              </a:rPr>
              <a:t>沈阳师范大学学报（自然科学版）</a:t>
            </a:r>
            <a:r>
              <a:rPr lang="en-US" altLang="zh-CN">
                <a:solidFill>
                  <a:schemeClr val="tx1"/>
                </a:solidFill>
              </a:rPr>
              <a:t>,2022,40(4):352-358. DOI:10.3969/j.issn.1673-5862.2022.04.013.</a:t>
            </a:r>
            <a:endParaRPr lang="en-US" altLang="zh-CN">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道德经</a:t>
            </a: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58372" y="2420889"/>
            <a:ext cx="8558108" cy="4370987"/>
          </a:xfrm>
          <a:prstGeom prst="rect">
            <a:avLst/>
          </a:prstGeom>
        </p:spPr>
      </p:pic>
      <p:sp>
        <p:nvSpPr>
          <p:cNvPr id="5" name="Rectangle 3"/>
          <p:cNvSpPr txBox="1">
            <a:spLocks noChangeArrowheads="1"/>
          </p:cNvSpPr>
          <p:nvPr/>
        </p:nvSpPr>
        <p:spPr>
          <a:xfrm>
            <a:off x="6169372" y="1234029"/>
            <a:ext cx="3960440" cy="2448272"/>
          </a:xfrm>
          <a:prstGeom prst="rect">
            <a:avLst/>
          </a:prstGeom>
        </p:spPr>
        <p:txBody>
          <a:bodyPr vert="horz"/>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zh-CN" altLang="en-US" sz="2400">
                <a:latin typeface="方正正中黑简体" panose="02000500000000000000" pitchFamily="2" charset="-122"/>
                <a:ea typeface="方正正中黑简体" panose="02000500000000000000" pitchFamily="2" charset="-122"/>
              </a:rPr>
              <a:t>大成</a:t>
            </a:r>
            <a:r>
              <a:rPr lang="zh-CN" altLang="en-US" sz="2400" dirty="0">
                <a:latin typeface="方正正中黑简体" panose="02000500000000000000" pitchFamily="2" charset="-122"/>
                <a:ea typeface="方正正中黑简体" panose="02000500000000000000" pitchFamily="2" charset="-122"/>
              </a:rPr>
              <a:t>若缺，其用不弊。大盈若冲，其用不穷。大直若屈。大巧若拙。大辩若讷。静胜躁，寒胜热。清静为天下正。</a:t>
            </a:r>
            <a:endParaRPr lang="zh-CN" altLang="en-US" sz="2400" dirty="0">
              <a:latin typeface="方正正中黑简体" panose="02000500000000000000" pitchFamily="2" charset="-122"/>
              <a:ea typeface="方正正中黑简体" panose="02000500000000000000" pitchFamily="2" charset="-122"/>
            </a:endParaRPr>
          </a:p>
        </p:txBody>
      </p:sp>
      <p:sp>
        <p:nvSpPr>
          <p:cNvPr id="6" name="矩形 5"/>
          <p:cNvSpPr/>
          <p:nvPr/>
        </p:nvSpPr>
        <p:spPr>
          <a:xfrm>
            <a:off x="2351585" y="1700808"/>
            <a:ext cx="2733441" cy="1107996"/>
          </a:xfrm>
          <a:prstGeom prst="rect">
            <a:avLst/>
          </a:prstGeom>
          <a:noFill/>
        </p:spPr>
        <p:txBody>
          <a:bodyPr wrap="none" lIns="91440" tIns="45720" rIns="91440" bIns="45720">
            <a:spAutoFit/>
          </a:bodyPr>
          <a:lstStyle/>
          <a:p>
            <a:pPr algn="ctr"/>
            <a:r>
              <a:rPr lang="zh-CN" altLang="en-US" sz="6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方正正中黑简体" panose="02000500000000000000" pitchFamily="2" charset="-122"/>
                <a:ea typeface="方正正中黑简体" panose="02000500000000000000" pitchFamily="2" charset="-122"/>
              </a:rPr>
              <a:t>谢谢！</a:t>
            </a:r>
            <a:endParaRPr lang="zh-CN" altLang="en-US" sz="6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方正正中黑简体" panose="02000500000000000000" pitchFamily="2" charset="-122"/>
              <a:ea typeface="方正正中黑简体" panose="02000500000000000000" pitchFamily="2"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3238</Words>
  <Application>WPS 演示</Application>
  <PresentationFormat>宽屏</PresentationFormat>
  <Paragraphs>176</Paragraphs>
  <Slides>18</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汉仪菱心体简</vt:lpstr>
      <vt:lpstr>方正正中黑简体</vt:lpstr>
      <vt:lpstr>Times New Roman</vt:lpstr>
      <vt:lpstr>Calibri</vt:lpstr>
      <vt:lpstr>微软雅黑</vt:lpstr>
      <vt:lpstr>Arial Unicode MS</vt:lpstr>
      <vt:lpstr>Office 主题​​</vt:lpstr>
      <vt:lpstr>PowerPoint 演示文稿</vt:lpstr>
      <vt:lpstr>内容提要</vt:lpstr>
      <vt:lpstr>主题名称及内涵解析</vt:lpstr>
      <vt:lpstr>主题研究与主要成果</vt:lpstr>
      <vt:lpstr>主题研究与主要成果</vt:lpstr>
      <vt:lpstr>主题研究与主要成果</vt:lpstr>
      <vt:lpstr>主题研究与主要成果</vt:lpstr>
      <vt:lpstr>主题研究与主要成果</vt:lpstr>
      <vt:lpstr>研究问题选定及论证</vt:lpstr>
      <vt:lpstr>研究问题选定及论证</vt:lpstr>
      <vt:lpstr>研究问题选定及论证</vt:lpstr>
      <vt:lpstr>精典案例分析与实践</vt:lpstr>
      <vt:lpstr>精典案例分析与实践</vt:lpstr>
      <vt:lpstr>精典案例分析与实践</vt:lpstr>
      <vt:lpstr>研究过程与问题分析</vt:lpstr>
      <vt:lpstr>研究结论与主要建议</vt:lpstr>
      <vt:lpstr>参考文献</vt:lpstr>
      <vt:lpstr>道德经</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信息系统安全与对抗技术 （序）</dc:title>
  <dc:creator>apple</dc:creator>
  <cp:lastModifiedBy>xiaxia</cp:lastModifiedBy>
  <cp:revision>833</cp:revision>
  <cp:lastPrinted>2018-01-01T06:58:00Z</cp:lastPrinted>
  <dcterms:created xsi:type="dcterms:W3CDTF">2013-09-15T06:51:00Z</dcterms:created>
  <dcterms:modified xsi:type="dcterms:W3CDTF">2026-09-15T07:31:16Z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CA898BFB8F8C46799DAA0DFECC0BF95D_12</vt:lpwstr>
  </property>
  <property fmtid="{D5CDD505-2E9C-101B-9397-08002B2CF9AE}" pid="3" name="KSOProductBuildVer">
    <vt:lpwstr>2052-12.1.0.28505</vt:lpwstr>
  </property>
</Properties>
</file>